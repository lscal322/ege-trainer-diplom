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9" r:id="rId11"/>
    <p:sldId id="271" r:id="rId12"/>
    <p:sldId id="272" r:id="rId13"/>
  </p:sldIdLst>
  <p:sldSz cx="24384000" cy="13716000"/>
  <p:notesSz cx="13716000" cy="24384000"/>
  <p:embeddedFontLst>
    <p:embeddedFont>
      <p:font typeface="MiSans" panose="020B0604020202020204" charset="-122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Математика</c:v>
                </c:pt>
              </c:strCache>
            </c:strRef>
          </c:tx>
          <c:spPr>
            <a:ln w="25400" cap="flat">
              <a:solidFill>
                <a:srgbClr val="7EC0D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EC0DA"/>
              </a:solidFill>
              <a:ln w="9525" cap="flat">
                <a:solidFill>
                  <a:srgbClr val="7EC0D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Тест 1</c:v>
                </c:pt>
                <c:pt idx="1">
                  <c:v>Тест 2</c:v>
                </c:pt>
                <c:pt idx="2">
                  <c:v>Тест 3</c:v>
                </c:pt>
                <c:pt idx="3">
                  <c:v>Тест 4</c:v>
                </c:pt>
                <c:pt idx="4">
                  <c:v>Тест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52</c:v>
                </c:pt>
                <c:pt idx="2">
                  <c:v>58</c:v>
                </c:pt>
                <c:pt idx="3">
                  <c:v>65</c:v>
                </c:pt>
                <c:pt idx="4">
                  <c:v>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C52-4D96-9F29-F90A2D7E92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Русский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Тест 1</c:v>
                </c:pt>
                <c:pt idx="1">
                  <c:v>Тест 2</c:v>
                </c:pt>
                <c:pt idx="2">
                  <c:v>Тест 3</c:v>
                </c:pt>
                <c:pt idx="3">
                  <c:v>Тест 4</c:v>
                </c:pt>
                <c:pt idx="4">
                  <c:v>Тест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60</c:v>
                </c:pt>
                <c:pt idx="2">
                  <c:v>65</c:v>
                </c:pt>
                <c:pt idx="3">
                  <c:v>70</c:v>
                </c:pt>
                <c:pt idx="4">
                  <c:v>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C52-4D96-9F29-F90A2D7E92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Физика</c:v>
                </c:pt>
              </c:strCache>
            </c:strRef>
          </c:tx>
          <c:spPr>
            <a:ln w="25400" cap="flat">
              <a:solidFill>
                <a:srgbClr val="5A6C7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A6C7D"/>
              </a:solidFill>
              <a:ln w="9525" cap="flat">
                <a:solidFill>
                  <a:srgbClr val="5A6C7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Тест 1</c:v>
                </c:pt>
                <c:pt idx="1">
                  <c:v>Тест 2</c:v>
                </c:pt>
                <c:pt idx="2">
                  <c:v>Тест 3</c:v>
                </c:pt>
                <c:pt idx="3">
                  <c:v>Тест 4</c:v>
                </c:pt>
                <c:pt idx="4">
                  <c:v>Тест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40</c:v>
                </c:pt>
                <c:pt idx="1">
                  <c:v>48</c:v>
                </c:pt>
                <c:pt idx="2">
                  <c:v>55</c:v>
                </c:pt>
                <c:pt idx="3">
                  <c:v>62</c:v>
                </c:pt>
                <c:pt idx="4">
                  <c:v>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C52-4D96-9F29-F90A2D7E92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5555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444444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FFFFFF"/>
              </a:solidFill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Минут</c:v>
                </c:pt>
              </c:strCache>
            </c:strRef>
          </c:tx>
          <c:spPr>
            <a:solidFill>
              <a:srgbClr val="7EC0D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Русский</c:v>
                </c:pt>
                <c:pt idx="1">
                  <c:v>Математика</c:v>
                </c:pt>
                <c:pt idx="2">
                  <c:v>Физика</c:v>
                </c:pt>
                <c:pt idx="3">
                  <c:v>Информатика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</c:v>
                </c:pt>
                <c:pt idx="1">
                  <c:v>235</c:v>
                </c:pt>
                <c:pt idx="2">
                  <c:v>235</c:v>
                </c:pt>
                <c:pt idx="3">
                  <c:v>235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4A-4E48-8ACF-CC3B4A53A7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Точность, %</c:v>
                </c:pt>
              </c:strCache>
            </c:strRef>
          </c:tx>
          <c:spPr>
            <a:solidFill>
              <a:srgbClr val="7EC0D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Зад. 1</c:v>
                </c:pt>
                <c:pt idx="1">
                  <c:v>Зад. 3</c:v>
                </c:pt>
                <c:pt idx="2">
                  <c:v>Зад. 5</c:v>
                </c:pt>
                <c:pt idx="3">
                  <c:v>Зад. 7</c:v>
                </c:pt>
                <c:pt idx="4">
                  <c:v>Зад. 9</c:v>
                </c:pt>
                <c:pt idx="5">
                  <c:v>Зад. 11</c:v>
                </c:pt>
                <c:pt idx="6">
                  <c:v>Зад. 13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92</c:v>
                </c:pt>
                <c:pt idx="1">
                  <c:v>78</c:v>
                </c:pt>
                <c:pt idx="2">
                  <c:v>65</c:v>
                </c:pt>
                <c:pt idx="3">
                  <c:v>45</c:v>
                </c:pt>
                <c:pt idx="4">
                  <c:v>38</c:v>
                </c:pt>
                <c:pt idx="5">
                  <c:v>72</c:v>
                </c:pt>
                <c:pt idx="6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C7-4F96-8C3C-1B9F48E893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55555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444444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EC0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0A3-41BF-9840-32065DF7B117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A3-41BF-9840-32065DF7B117}"/>
              </c:ext>
            </c:extLst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A3-41BF-9840-32065DF7B117}"/>
              </c:ext>
            </c:extLst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A3-41BF-9840-32065DF7B11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A3-41BF-9840-32065DF7B11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0A3-41BF-9840-32065DF7B11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0A3-41BF-9840-32065DF7B11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0A3-41BF-9840-32065DF7B11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Тест</c:v>
                </c:pt>
                <c:pt idx="1">
                  <c:v>Экзамен</c:v>
                </c:pt>
                <c:pt idx="2">
                  <c:v>Набивка</c:v>
                </c:pt>
                <c:pt idx="3">
                  <c:v>Адаптив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0A3-41BF-9840-32065DF7B1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980912401574801"/>
          <c:y val="0.26480752405949254"/>
          <c:w val="0.10190875984251968"/>
          <c:h val="0.28149606299212598"/>
        </c:manualLayout>
      </c:layout>
      <c:overlay val="0"/>
      <c:txPr>
        <a:bodyPr/>
        <a:lstStyle/>
        <a:p>
          <a:pPr>
            <a:defRPr sz="1600">
              <a:solidFill>
                <a:srgbClr val="FFFFFF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1657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4600" y="1016000"/>
            <a:ext cx="1524000" cy="762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Text 1"/>
          <p:cNvSpPr/>
          <p:nvPr/>
        </p:nvSpPr>
        <p:spPr>
          <a:xfrm>
            <a:off x="1244600" y="1778000"/>
            <a:ext cx="1397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ЕГЭ </a:t>
            </a:r>
            <a:r>
              <a:rPr lang="en-US" sz="9800" b="1" kern="0" spc="-12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ТРЕНАЖЁР</a:t>
            </a:r>
            <a:endParaRPr lang="en-US" sz="9800" dirty="0"/>
          </a:p>
        </p:txBody>
      </p:sp>
      <p:sp>
        <p:nvSpPr>
          <p:cNvPr id="4" name="Text 2"/>
          <p:cNvSpPr/>
          <p:nvPr/>
        </p:nvSpPr>
        <p:spPr>
          <a:xfrm>
            <a:off x="1244600" y="3494097"/>
            <a:ext cx="1219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37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Веб-платформа для комплексной подготовки к ЕГЭ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1244600" y="6604000"/>
            <a:ext cx="1079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600" dirty="0">
                <a:solidFill>
                  <a:srgbClr val="AAAAAA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Интеллектуальная система тренировок, аналитика прогресса и адаптивное обучение — всё для уверенной сдачи экзамена</a:t>
            </a:r>
            <a:r>
              <a:rPr lang="en-US" sz="26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244600" y="12192000"/>
            <a:ext cx="21894800" cy="254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8" name="Text 5"/>
          <p:cNvSpPr/>
          <p:nvPr/>
        </p:nvSpPr>
        <p:spPr>
          <a:xfrm>
            <a:off x="1244600" y="12446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Дипломный проект 2026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81E07-540C-4CF3-A27A-68A2943BA55B}"/>
              </a:ext>
            </a:extLst>
          </p:cNvPr>
          <p:cNvSpPr txBox="1"/>
          <p:nvPr/>
        </p:nvSpPr>
        <p:spPr>
          <a:xfrm>
            <a:off x="1111596" y="8429105"/>
            <a:ext cx="9611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>
                <a:solidFill>
                  <a:schemeClr val="bg1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Выполнил: Павлов Вячеслав Юрьевич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30BFF-5F62-4365-9927-08309AA56D92}"/>
              </a:ext>
            </a:extLst>
          </p:cNvPr>
          <p:cNvSpPr txBox="1"/>
          <p:nvPr/>
        </p:nvSpPr>
        <p:spPr>
          <a:xfrm>
            <a:off x="1111596" y="9066455"/>
            <a:ext cx="133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Ссылка </a:t>
            </a:r>
            <a:r>
              <a:rPr lang="ru-RU" sz="2800">
                <a:solidFill>
                  <a:schemeClr val="bg1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на проект:</a:t>
            </a:r>
            <a:r>
              <a:rPr lang="en-US" sz="2800">
                <a:solidFill>
                  <a:schemeClr val="bg1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 https: //</a:t>
            </a:r>
            <a:r>
              <a:rPr lang="en-US" sz="2800" dirty="0">
                <a:solidFill>
                  <a:schemeClr val="bg1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ie-ge.replit.app/</a:t>
            </a:r>
            <a:endParaRPr lang="ru-RU" sz="2800" dirty="0">
              <a:solidFill>
                <a:schemeClr val="bg1"/>
              </a:solidFill>
              <a:latin typeface="MiSans" panose="020B0604020202020204" charset="-122"/>
              <a:ea typeface="MiSans" panose="020B0604020202020204" charset="-122"/>
              <a:cs typeface="MiSans" panose="020B060402020202020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551DDD-31B3-424D-93F0-8DA3799BAF76}"/>
              </a:ext>
            </a:extLst>
          </p:cNvPr>
          <p:cNvSpPr txBox="1"/>
          <p:nvPr/>
        </p:nvSpPr>
        <p:spPr>
          <a:xfrm>
            <a:off x="1111596" y="9703805"/>
            <a:ext cx="13252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>
                <a:solidFill>
                  <a:schemeClr val="bg1">
                    <a:lumMod val="95000"/>
                  </a:schemeClr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Ссылка на </a:t>
            </a:r>
            <a:r>
              <a:rPr lang="en-CA" sz="2800">
                <a:solidFill>
                  <a:schemeClr val="bg1">
                    <a:lumMod val="95000"/>
                  </a:schemeClr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Gtithub: https://github.com/lscal322/ege-trainer-diplom</a:t>
            </a:r>
            <a:endParaRPr lang="ru-RU" sz="2800">
              <a:solidFill>
                <a:schemeClr val="bg1">
                  <a:lumMod val="95000"/>
                </a:schemeClr>
              </a:solidFill>
              <a:latin typeface="MiSans" panose="020B0604020202020204" charset="-122"/>
              <a:ea typeface="MiSans" panose="020B0604020202020204" charset="-122"/>
              <a:cs typeface="MiSans" panose="020B060402020202020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FEC084-1772-452F-B0B7-4DDF2278750E}"/>
              </a:ext>
            </a:extLst>
          </p:cNvPr>
          <p:cNvSpPr txBox="1"/>
          <p:nvPr/>
        </p:nvSpPr>
        <p:spPr>
          <a:xfrm>
            <a:off x="1111596" y="103413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>
                <a:solidFill>
                  <a:schemeClr val="bg1">
                    <a:lumMod val="95000"/>
                  </a:schemeClr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Руководитель:</a:t>
            </a:r>
            <a:r>
              <a:rPr lang="ru-RU" sz="2800"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 </a:t>
            </a:r>
            <a:r>
              <a:rPr lang="ru-RU" sz="2800" i="0">
                <a:solidFill>
                  <a:schemeClr val="bg1">
                    <a:lumMod val="95000"/>
                  </a:schemeClr>
                </a:solidFill>
                <a:effectLst/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Дементьев Алексей Евгеньевич</a:t>
            </a:r>
            <a:endParaRPr lang="ru-RU" sz="2800">
              <a:solidFill>
                <a:schemeClr val="bg1">
                  <a:lumMod val="95000"/>
                </a:schemeClr>
              </a:solidFill>
              <a:latin typeface="MiSans" panose="020B0604020202020204" charset="-122"/>
              <a:ea typeface="MiSans" panose="020B0604020202020204" charset="-122"/>
              <a:cs typeface="MiSans" panose="020B0604020202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2540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244600" y="4572000"/>
            <a:ext cx="1143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Актуальность</a:t>
            </a:r>
            <a:endParaRPr lang="en-US" sz="9800" dirty="0"/>
          </a:p>
          <a:p>
            <a:pPr algn="l">
              <a:lnSpc>
                <a:spcPct val="120000"/>
              </a:lnSpc>
            </a:pPr>
            <a:r>
              <a:rPr lang="en-US" sz="9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 проблема</a:t>
            </a:r>
            <a:endParaRPr lang="en-US" sz="9800" dirty="0"/>
          </a:p>
        </p:txBody>
      </p:sp>
      <p:sp>
        <p:nvSpPr>
          <p:cNvPr id="4" name="Text 2"/>
          <p:cNvSpPr/>
          <p:nvPr/>
        </p:nvSpPr>
        <p:spPr>
          <a:xfrm>
            <a:off x="1244600" y="8636000"/>
            <a:ext cx="1016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37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Почему современные школьники нуждаются в новом подходе к подготовке к ЕГЭ</a:t>
            </a:r>
            <a:endParaRPr lang="en-US" sz="37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Проблема подготовки к ЕГЭ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244600" y="2794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700 000+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244600" y="4064000"/>
            <a:ext cx="533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выпускников сдают ЕГЭ ежегодно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44600" y="5080000"/>
            <a:ext cx="6858000" cy="330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1651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8268" y="127000"/>
                </a:moveTo>
                <a:cubicBezTo>
                  <a:pt x="108267" y="84463"/>
                  <a:pt x="126422" y="45157"/>
                  <a:pt x="155892" y="23889"/>
                </a:cubicBezTo>
                <a:cubicBezTo>
                  <a:pt x="185363" y="2620"/>
                  <a:pt x="221672" y="2620"/>
                  <a:pt x="251143" y="23889"/>
                </a:cubicBezTo>
                <a:cubicBezTo>
                  <a:pt x="280613" y="45157"/>
                  <a:pt x="298768" y="84463"/>
                  <a:pt x="298768" y="127000"/>
                </a:cubicBezTo>
                <a:cubicBezTo>
                  <a:pt x="298768" y="192712"/>
                  <a:pt x="256087" y="246063"/>
                  <a:pt x="203518" y="246063"/>
                </a:cubicBezTo>
                <a:cubicBezTo>
                  <a:pt x="150948" y="246063"/>
                  <a:pt x="108267" y="192712"/>
                  <a:pt x="108267" y="127000"/>
                </a:cubicBezTo>
                <a:close/>
                <a:moveTo>
                  <a:pt x="38418" y="478532"/>
                </a:moveTo>
                <a:cubicBezTo>
                  <a:pt x="38418" y="380802"/>
                  <a:pt x="101759" y="301625"/>
                  <a:pt x="179943" y="301625"/>
                </a:cubicBezTo>
                <a:lnTo>
                  <a:pt x="227092" y="301625"/>
                </a:lnTo>
                <a:cubicBezTo>
                  <a:pt x="305276" y="301625"/>
                  <a:pt x="368618" y="380802"/>
                  <a:pt x="368618" y="478532"/>
                </a:cubicBezTo>
                <a:cubicBezTo>
                  <a:pt x="368618" y="494804"/>
                  <a:pt x="358061" y="508000"/>
                  <a:pt x="345043" y="508000"/>
                </a:cubicBezTo>
                <a:lnTo>
                  <a:pt x="61992" y="508000"/>
                </a:lnTo>
                <a:cubicBezTo>
                  <a:pt x="48974" y="508000"/>
                  <a:pt x="38417" y="494804"/>
                  <a:pt x="38417" y="478532"/>
                </a:cubicBezTo>
                <a:close/>
                <a:moveTo>
                  <a:pt x="486013" y="123130"/>
                </a:moveTo>
                <a:cubicBezTo>
                  <a:pt x="493474" y="132457"/>
                  <a:pt x="493474" y="147538"/>
                  <a:pt x="486013" y="156766"/>
                </a:cubicBezTo>
                <a:lnTo>
                  <a:pt x="459105" y="190401"/>
                </a:lnTo>
                <a:lnTo>
                  <a:pt x="486013" y="224036"/>
                </a:lnTo>
                <a:cubicBezTo>
                  <a:pt x="493474" y="233363"/>
                  <a:pt x="493474" y="248444"/>
                  <a:pt x="486013" y="257671"/>
                </a:cubicBezTo>
                <a:cubicBezTo>
                  <a:pt x="478552" y="266898"/>
                  <a:pt x="466487" y="266998"/>
                  <a:pt x="459105" y="257671"/>
                </a:cubicBezTo>
                <a:lnTo>
                  <a:pt x="432197" y="224036"/>
                </a:lnTo>
                <a:lnTo>
                  <a:pt x="405289" y="257671"/>
                </a:lnTo>
                <a:cubicBezTo>
                  <a:pt x="397828" y="266998"/>
                  <a:pt x="385763" y="266998"/>
                  <a:pt x="378381" y="257671"/>
                </a:cubicBezTo>
                <a:cubicBezTo>
                  <a:pt x="370999" y="248345"/>
                  <a:pt x="370919" y="233263"/>
                  <a:pt x="378381" y="224036"/>
                </a:cubicBezTo>
                <a:lnTo>
                  <a:pt x="405289" y="190401"/>
                </a:lnTo>
                <a:lnTo>
                  <a:pt x="378381" y="156766"/>
                </a:lnTo>
                <a:cubicBezTo>
                  <a:pt x="370919" y="147439"/>
                  <a:pt x="370919" y="132358"/>
                  <a:pt x="378381" y="123130"/>
                </a:cubicBezTo>
                <a:cubicBezTo>
                  <a:pt x="385842" y="113903"/>
                  <a:pt x="397907" y="113804"/>
                  <a:pt x="405289" y="123130"/>
                </a:cubicBezTo>
                <a:lnTo>
                  <a:pt x="432197" y="156766"/>
                </a:lnTo>
                <a:lnTo>
                  <a:pt x="459105" y="123130"/>
                </a:lnTo>
                <a:cubicBezTo>
                  <a:pt x="466566" y="113804"/>
                  <a:pt x="478631" y="113804"/>
                  <a:pt x="486013" y="12313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61595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Нет персонализации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51000" y="67945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 ученики решают одинаковые задания, независимо от своего уровня подготовки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636000" y="5080000"/>
            <a:ext cx="6858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90424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9042400" y="61595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Нет аналитики прогресса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042400" y="6794500"/>
            <a:ext cx="609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Ученики не видят динамику своих результатов и не понимают, над чем работать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027400" y="5080000"/>
            <a:ext cx="7112000" cy="330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338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6" name="Text 14"/>
          <p:cNvSpPr/>
          <p:nvPr/>
        </p:nvSpPr>
        <p:spPr>
          <a:xfrm>
            <a:off x="16433800" y="6159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Нет адаптивности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433800" y="67945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Система не адаптируется под слабые темы ученика, тратя время на уже известное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244600" y="9144000"/>
            <a:ext cx="21894800" cy="304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44600" y="9144000"/>
            <a:ext cx="76200" cy="3048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1778000" y="9398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НАШЕ РЕШЕНИЕ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78000" y="9969500"/>
            <a:ext cx="2032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ЕГЭ Тренажёр — интеллектуальная веб-платформа с </a:t>
            </a: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режимами обучения</a:t>
            </a: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адаптивной системой</a:t>
            </a: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тренировок, </a:t>
            </a: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детальной аналитикой</a:t>
            </a: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прогресса и </a:t>
            </a: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геймификацией</a:t>
            </a: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которая мотивирует учеников к ежедневным занятиям.</a:t>
            </a:r>
            <a:endParaRPr lang="en-US" sz="2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Технологический стек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4600" y="2794000"/>
            <a:ext cx="6858000" cy="482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3048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51000" y="368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32" y="179040"/>
                </a:moveTo>
                <a:cubicBezTo>
                  <a:pt x="440973" y="151448"/>
                  <a:pt x="426074" y="130641"/>
                  <a:pt x="394335" y="130641"/>
                </a:cubicBezTo>
                <a:lnTo>
                  <a:pt x="353412" y="130641"/>
                </a:lnTo>
                <a:lnTo>
                  <a:pt x="353412" y="172968"/>
                </a:lnTo>
                <a:cubicBezTo>
                  <a:pt x="353412" y="205829"/>
                  <a:pt x="321571" y="233511"/>
                  <a:pt x="285240" y="233511"/>
                </a:cubicBezTo>
                <a:lnTo>
                  <a:pt x="176247" y="233511"/>
                </a:lnTo>
                <a:cubicBezTo>
                  <a:pt x="146447" y="233511"/>
                  <a:pt x="121750" y="255836"/>
                  <a:pt x="121750" y="282000"/>
                </a:cubicBezTo>
                <a:lnTo>
                  <a:pt x="121750" y="372904"/>
                </a:lnTo>
                <a:cubicBezTo>
                  <a:pt x="121750" y="398800"/>
                  <a:pt x="147467" y="413980"/>
                  <a:pt x="176247" y="421392"/>
                </a:cubicBezTo>
                <a:cubicBezTo>
                  <a:pt x="210741" y="430232"/>
                  <a:pt x="243908" y="431840"/>
                  <a:pt x="285240" y="421392"/>
                </a:cubicBezTo>
                <a:cubicBezTo>
                  <a:pt x="312692" y="414427"/>
                  <a:pt x="339736" y="400407"/>
                  <a:pt x="339736" y="372904"/>
                </a:cubicBezTo>
                <a:lnTo>
                  <a:pt x="339736" y="336560"/>
                </a:lnTo>
                <a:lnTo>
                  <a:pt x="230845" y="336560"/>
                </a:lnTo>
                <a:lnTo>
                  <a:pt x="230845" y="324416"/>
                </a:lnTo>
                <a:lnTo>
                  <a:pt x="394335" y="324416"/>
                </a:lnTo>
                <a:cubicBezTo>
                  <a:pt x="426074" y="324416"/>
                  <a:pt x="437810" y="305038"/>
                  <a:pt x="448832" y="276017"/>
                </a:cubicBezTo>
                <a:cubicBezTo>
                  <a:pt x="460262" y="246102"/>
                  <a:pt x="459751" y="217349"/>
                  <a:pt x="448832" y="179040"/>
                </a:cubicBezTo>
                <a:close/>
                <a:moveTo>
                  <a:pt x="292077" y="397103"/>
                </a:moveTo>
                <a:cubicBezTo>
                  <a:pt x="284310" y="397580"/>
                  <a:pt x="276888" y="394224"/>
                  <a:pt x="272839" y="388405"/>
                </a:cubicBezTo>
                <a:cubicBezTo>
                  <a:pt x="268789" y="382586"/>
                  <a:pt x="268789" y="375276"/>
                  <a:pt x="272839" y="369457"/>
                </a:cubicBezTo>
                <a:cubicBezTo>
                  <a:pt x="276888" y="363638"/>
                  <a:pt x="284310" y="360283"/>
                  <a:pt x="292077" y="360759"/>
                </a:cubicBezTo>
                <a:cubicBezTo>
                  <a:pt x="299844" y="360283"/>
                  <a:pt x="307266" y="363638"/>
                  <a:pt x="311316" y="369457"/>
                </a:cubicBezTo>
                <a:cubicBezTo>
                  <a:pt x="315365" y="375276"/>
                  <a:pt x="315365" y="382586"/>
                  <a:pt x="311316" y="388405"/>
                </a:cubicBezTo>
                <a:cubicBezTo>
                  <a:pt x="307266" y="394224"/>
                  <a:pt x="299844" y="397580"/>
                  <a:pt x="292077" y="397103"/>
                </a:cubicBezTo>
                <a:close/>
                <a:moveTo>
                  <a:pt x="171246" y="221546"/>
                </a:moveTo>
                <a:lnTo>
                  <a:pt x="280239" y="221546"/>
                </a:lnTo>
                <a:cubicBezTo>
                  <a:pt x="310549" y="221546"/>
                  <a:pt x="334736" y="199668"/>
                  <a:pt x="334736" y="173057"/>
                </a:cubicBezTo>
                <a:lnTo>
                  <a:pt x="334736" y="82064"/>
                </a:lnTo>
                <a:cubicBezTo>
                  <a:pt x="334736" y="56168"/>
                  <a:pt x="309835" y="36790"/>
                  <a:pt x="280239" y="32415"/>
                </a:cubicBezTo>
                <a:cubicBezTo>
                  <a:pt x="243704" y="27146"/>
                  <a:pt x="204005" y="27414"/>
                  <a:pt x="171246" y="32504"/>
                </a:cubicBezTo>
                <a:cubicBezTo>
                  <a:pt x="125118" y="39648"/>
                  <a:pt x="116749" y="54560"/>
                  <a:pt x="116749" y="82153"/>
                </a:cubicBezTo>
                <a:lnTo>
                  <a:pt x="116749" y="118497"/>
                </a:lnTo>
                <a:lnTo>
                  <a:pt x="225845" y="118497"/>
                </a:lnTo>
                <a:lnTo>
                  <a:pt x="225845" y="130641"/>
                </a:lnTo>
                <a:lnTo>
                  <a:pt x="75826" y="130641"/>
                </a:lnTo>
                <a:cubicBezTo>
                  <a:pt x="44087" y="130641"/>
                  <a:pt x="16329" y="147340"/>
                  <a:pt x="7654" y="179040"/>
                </a:cubicBezTo>
                <a:cubicBezTo>
                  <a:pt x="-2347" y="215384"/>
                  <a:pt x="-2755" y="238065"/>
                  <a:pt x="7654" y="276017"/>
                </a:cubicBezTo>
                <a:cubicBezTo>
                  <a:pt x="15410" y="304234"/>
                  <a:pt x="33882" y="324416"/>
                  <a:pt x="65620" y="324416"/>
                </a:cubicBezTo>
                <a:lnTo>
                  <a:pt x="103074" y="324416"/>
                </a:lnTo>
                <a:lnTo>
                  <a:pt x="103074" y="280839"/>
                </a:lnTo>
                <a:cubicBezTo>
                  <a:pt x="103074" y="249317"/>
                  <a:pt x="134200" y="221546"/>
                  <a:pt x="171246" y="221546"/>
                </a:cubicBezTo>
                <a:close/>
                <a:moveTo>
                  <a:pt x="164510" y="57775"/>
                </a:moveTo>
                <a:cubicBezTo>
                  <a:pt x="176001" y="57775"/>
                  <a:pt x="185329" y="65938"/>
                  <a:pt x="185329" y="75992"/>
                </a:cubicBezTo>
                <a:cubicBezTo>
                  <a:pt x="185329" y="86046"/>
                  <a:pt x="176001" y="94208"/>
                  <a:pt x="164510" y="94208"/>
                </a:cubicBezTo>
                <a:cubicBezTo>
                  <a:pt x="153020" y="94208"/>
                  <a:pt x="143691" y="86046"/>
                  <a:pt x="143691" y="75992"/>
                </a:cubicBezTo>
                <a:cubicBezTo>
                  <a:pt x="143691" y="65938"/>
                  <a:pt x="153020" y="57775"/>
                  <a:pt x="164510" y="57775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68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</a:t>
            </a: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(Python)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51000" y="4445000"/>
            <a:ext cx="6096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Jinja2 шаблонизатор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SQLite / PostgreSQL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Единый ORM-интерфейс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bcrypt хеширование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REST API endpoints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36000" y="2794000"/>
            <a:ext cx="6858000" cy="482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9042400" y="3048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042400" y="368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8575"/>
                </a:moveTo>
                <a:lnTo>
                  <a:pt x="0" y="428625"/>
                </a:lnTo>
                <a:lnTo>
                  <a:pt x="457200" y="428625"/>
                </a:lnTo>
                <a:lnTo>
                  <a:pt x="457200" y="28575"/>
                </a:lnTo>
                <a:lnTo>
                  <a:pt x="0" y="28575"/>
                </a:lnTo>
                <a:close/>
                <a:moveTo>
                  <a:pt x="248807" y="340578"/>
                </a:moveTo>
                <a:cubicBezTo>
                  <a:pt x="248807" y="379512"/>
                  <a:pt x="222681" y="397282"/>
                  <a:pt x="184615" y="397282"/>
                </a:cubicBezTo>
                <a:cubicBezTo>
                  <a:pt x="150223" y="397282"/>
                  <a:pt x="130322" y="381744"/>
                  <a:pt x="120117" y="362903"/>
                </a:cubicBezTo>
                <a:lnTo>
                  <a:pt x="155121" y="344418"/>
                </a:lnTo>
                <a:cubicBezTo>
                  <a:pt x="161857" y="354866"/>
                  <a:pt x="167980" y="363706"/>
                  <a:pt x="182778" y="363706"/>
                </a:cubicBezTo>
                <a:cubicBezTo>
                  <a:pt x="196861" y="363706"/>
                  <a:pt x="205842" y="358884"/>
                  <a:pt x="205842" y="340043"/>
                </a:cubicBezTo>
                <a:lnTo>
                  <a:pt x="205842" y="212259"/>
                </a:lnTo>
                <a:lnTo>
                  <a:pt x="248807" y="212259"/>
                </a:lnTo>
                <a:lnTo>
                  <a:pt x="248807" y="340578"/>
                </a:lnTo>
                <a:close/>
                <a:moveTo>
                  <a:pt x="350452" y="397282"/>
                </a:moveTo>
                <a:cubicBezTo>
                  <a:pt x="310549" y="397282"/>
                  <a:pt x="284729" y="380673"/>
                  <a:pt x="272177" y="358884"/>
                </a:cubicBezTo>
                <a:lnTo>
                  <a:pt x="307181" y="341203"/>
                </a:lnTo>
                <a:cubicBezTo>
                  <a:pt x="316366" y="354330"/>
                  <a:pt x="328408" y="364063"/>
                  <a:pt x="349533" y="364063"/>
                </a:cubicBezTo>
                <a:cubicBezTo>
                  <a:pt x="367291" y="364063"/>
                  <a:pt x="378721" y="356295"/>
                  <a:pt x="378721" y="345490"/>
                </a:cubicBezTo>
                <a:cubicBezTo>
                  <a:pt x="378721" y="332631"/>
                  <a:pt x="367087" y="328077"/>
                  <a:pt x="347390" y="320486"/>
                </a:cubicBezTo>
                <a:lnTo>
                  <a:pt x="336675" y="316468"/>
                </a:lnTo>
                <a:cubicBezTo>
                  <a:pt x="305650" y="304949"/>
                  <a:pt x="285138" y="290393"/>
                  <a:pt x="285138" y="259765"/>
                </a:cubicBezTo>
                <a:cubicBezTo>
                  <a:pt x="285138" y="231547"/>
                  <a:pt x="309733" y="210116"/>
                  <a:pt x="348003" y="210116"/>
                </a:cubicBezTo>
                <a:cubicBezTo>
                  <a:pt x="375353" y="210116"/>
                  <a:pt x="394947" y="218420"/>
                  <a:pt x="409031" y="240209"/>
                </a:cubicBezTo>
                <a:lnTo>
                  <a:pt x="375557" y="258961"/>
                </a:lnTo>
                <a:cubicBezTo>
                  <a:pt x="368209" y="247442"/>
                  <a:pt x="360249" y="242888"/>
                  <a:pt x="347901" y="242888"/>
                </a:cubicBezTo>
                <a:cubicBezTo>
                  <a:pt x="335348" y="242888"/>
                  <a:pt x="327388" y="249853"/>
                  <a:pt x="327388" y="258961"/>
                </a:cubicBezTo>
                <a:cubicBezTo>
                  <a:pt x="327388" y="270212"/>
                  <a:pt x="335348" y="274766"/>
                  <a:pt x="353820" y="281821"/>
                </a:cubicBezTo>
                <a:lnTo>
                  <a:pt x="364535" y="285839"/>
                </a:lnTo>
                <a:cubicBezTo>
                  <a:pt x="401071" y="299502"/>
                  <a:pt x="421583" y="313521"/>
                  <a:pt x="421583" y="344954"/>
                </a:cubicBezTo>
                <a:cubicBezTo>
                  <a:pt x="421583" y="378708"/>
                  <a:pt x="391171" y="397282"/>
                  <a:pt x="350452" y="397282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9677400" y="368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HTML / CSS / JS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042400" y="4445000"/>
            <a:ext cx="6096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Chart.js визуализация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Адаптивная вёрстка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Асинхронные запросы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Интерактивные тесты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Таймеры и анимации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027400" y="2794000"/>
            <a:ext cx="7112000" cy="482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16433800" y="3048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АРХИТЕКТУРА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6433800" y="368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7" name="Text 15"/>
          <p:cNvSpPr/>
          <p:nvPr/>
        </p:nvSpPr>
        <p:spPr>
          <a:xfrm>
            <a:off x="17068800" y="3683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Модульная структура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433800" y="4445000"/>
            <a:ext cx="635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2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ru-RU" sz="22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10+</a:t>
            </a:r>
            <a:r>
              <a:rPr lang="en-US" sz="22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таблиц БД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Система миграций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Сессионная авторизация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Разделение на роуты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Шаблоны Jinja2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244600" y="8128000"/>
            <a:ext cx="21894800" cy="4064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8382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Структура базы данных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51000" y="9144000"/>
          <a:ext cx="21082000" cy="1760220"/>
        </p:xfrm>
        <a:graphic>
          <a:graphicData uri="http://schemas.openxmlformats.org/drawingml/2006/table">
            <a:tbl>
              <a:tblPr/>
              <a:tblGrid>
                <a:gridCol w="421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011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92929"/>
                          </a:solidFill>
                        </a:rPr>
                        <a:t>users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92929"/>
                          </a:solidFill>
                        </a:rPr>
                        <a:t>questions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92929"/>
                          </a:solidFill>
                        </a:rPr>
                        <a:t>test_results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92929"/>
                          </a:solidFill>
                        </a:rPr>
                        <a:t>mistake_bank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92929"/>
                          </a:solidFill>
                        </a:rPr>
                        <a:t>exam_sessions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1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theory_sections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task_analyses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essay_submissions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guides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FF"/>
                          </a:solidFill>
                        </a:rPr>
                        <a:t>news_items</a:t>
                      </a:r>
                      <a:endParaRPr lang="en-US" sz="20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Личный кабинет и дашборд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244600" y="2476500"/>
            <a:ext cx="1219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Центральная панель с выбором предметов и статистикой прогресса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44600" y="3556000"/>
            <a:ext cx="50800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16510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40196"/>
                </a:moveTo>
                <a:lnTo>
                  <a:pt x="254000" y="447080"/>
                </a:lnTo>
                <a:lnTo>
                  <a:pt x="254496" y="446881"/>
                </a:lnTo>
                <a:cubicBezTo>
                  <a:pt x="308670" y="424359"/>
                  <a:pt x="366812" y="412750"/>
                  <a:pt x="425450" y="412750"/>
                </a:cubicBezTo>
                <a:lnTo>
                  <a:pt x="444500" y="412750"/>
                </a:lnTo>
                <a:lnTo>
                  <a:pt x="444500" y="95250"/>
                </a:lnTo>
                <a:lnTo>
                  <a:pt x="425450" y="95250"/>
                </a:lnTo>
                <a:cubicBezTo>
                  <a:pt x="383580" y="95250"/>
                  <a:pt x="342007" y="103584"/>
                  <a:pt x="303312" y="119658"/>
                </a:cubicBezTo>
                <a:cubicBezTo>
                  <a:pt x="286643" y="126603"/>
                  <a:pt x="270173" y="133449"/>
                  <a:pt x="254000" y="140196"/>
                </a:cubicBezTo>
                <a:close/>
                <a:moveTo>
                  <a:pt x="229096" y="61020"/>
                </a:moveTo>
                <a:lnTo>
                  <a:pt x="254000" y="71438"/>
                </a:lnTo>
                <a:lnTo>
                  <a:pt x="278904" y="61020"/>
                </a:lnTo>
                <a:cubicBezTo>
                  <a:pt x="325338" y="41672"/>
                  <a:pt x="375146" y="31750"/>
                  <a:pt x="425450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428625"/>
                </a:lnTo>
                <a:cubicBezTo>
                  <a:pt x="508000" y="454918"/>
                  <a:pt x="486668" y="476250"/>
                  <a:pt x="460375" y="476250"/>
                </a:cubicBezTo>
                <a:lnTo>
                  <a:pt x="425450" y="476250"/>
                </a:lnTo>
                <a:cubicBezTo>
                  <a:pt x="375146" y="476250"/>
                  <a:pt x="325338" y="486172"/>
                  <a:pt x="278904" y="505520"/>
                </a:cubicBezTo>
                <a:lnTo>
                  <a:pt x="266204" y="510778"/>
                </a:lnTo>
                <a:cubicBezTo>
                  <a:pt x="258366" y="514052"/>
                  <a:pt x="249634" y="514052"/>
                  <a:pt x="241796" y="510778"/>
                </a:cubicBezTo>
                <a:lnTo>
                  <a:pt x="229096" y="505520"/>
                </a:lnTo>
                <a:cubicBezTo>
                  <a:pt x="182662" y="486172"/>
                  <a:pt x="132854" y="476250"/>
                  <a:pt x="82550" y="476250"/>
                </a:cubicBezTo>
                <a:lnTo>
                  <a:pt x="47625" y="476250"/>
                </a:lnTo>
                <a:cubicBezTo>
                  <a:pt x="21332" y="476250"/>
                  <a:pt x="0" y="454918"/>
                  <a:pt x="0" y="428625"/>
                </a:cubicBezTo>
                <a:lnTo>
                  <a:pt x="0" y="79375"/>
                </a:lnTo>
                <a:cubicBezTo>
                  <a:pt x="0" y="53082"/>
                  <a:pt x="21332" y="31750"/>
                  <a:pt x="47625" y="31750"/>
                </a:cubicBezTo>
                <a:lnTo>
                  <a:pt x="82550" y="31750"/>
                </a:lnTo>
                <a:cubicBezTo>
                  <a:pt x="132854" y="31750"/>
                  <a:pt x="182662" y="41672"/>
                  <a:pt x="229096" y="6102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450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651000" y="5143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предмета для подготовки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1000" y="3556000"/>
            <a:ext cx="50800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71374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3173" y="0"/>
                </a:moveTo>
                <a:lnTo>
                  <a:pt x="365423" y="0"/>
                </a:lnTo>
                <a:cubicBezTo>
                  <a:pt x="391716" y="0"/>
                  <a:pt x="413147" y="21630"/>
                  <a:pt x="412155" y="47823"/>
                </a:cubicBezTo>
                <a:cubicBezTo>
                  <a:pt x="411956" y="53082"/>
                  <a:pt x="411758" y="58341"/>
                  <a:pt x="411460" y="63500"/>
                </a:cubicBezTo>
                <a:lnTo>
                  <a:pt x="460673" y="63500"/>
                </a:lnTo>
                <a:cubicBezTo>
                  <a:pt x="486569" y="63500"/>
                  <a:pt x="509389" y="84931"/>
                  <a:pt x="507405" y="112911"/>
                </a:cubicBezTo>
                <a:cubicBezTo>
                  <a:pt x="499963" y="215801"/>
                  <a:pt x="447377" y="272355"/>
                  <a:pt x="390327" y="301923"/>
                </a:cubicBezTo>
                <a:cubicBezTo>
                  <a:pt x="374650" y="310059"/>
                  <a:pt x="358676" y="316111"/>
                  <a:pt x="343495" y="320576"/>
                </a:cubicBezTo>
                <a:cubicBezTo>
                  <a:pt x="323453" y="348952"/>
                  <a:pt x="302617" y="363934"/>
                  <a:pt x="286048" y="371971"/>
                </a:cubicBezTo>
                <a:lnTo>
                  <a:pt x="286048" y="444500"/>
                </a:lnTo>
                <a:lnTo>
                  <a:pt x="349548" y="444500"/>
                </a:lnTo>
                <a:cubicBezTo>
                  <a:pt x="367109" y="444500"/>
                  <a:pt x="381298" y="458688"/>
                  <a:pt x="381298" y="476250"/>
                </a:cubicBezTo>
                <a:cubicBezTo>
                  <a:pt x="381298" y="493812"/>
                  <a:pt x="367109" y="508000"/>
                  <a:pt x="349548" y="508000"/>
                </a:cubicBezTo>
                <a:lnTo>
                  <a:pt x="159048" y="508000"/>
                </a:lnTo>
                <a:cubicBezTo>
                  <a:pt x="141486" y="508000"/>
                  <a:pt x="127298" y="493812"/>
                  <a:pt x="127298" y="476250"/>
                </a:cubicBezTo>
                <a:cubicBezTo>
                  <a:pt x="127298" y="458688"/>
                  <a:pt x="141486" y="444500"/>
                  <a:pt x="159048" y="444500"/>
                </a:cubicBezTo>
                <a:lnTo>
                  <a:pt x="222548" y="444500"/>
                </a:lnTo>
                <a:lnTo>
                  <a:pt x="222548" y="371971"/>
                </a:lnTo>
                <a:cubicBezTo>
                  <a:pt x="206673" y="364331"/>
                  <a:pt x="186928" y="350143"/>
                  <a:pt x="167680" y="324048"/>
                </a:cubicBezTo>
                <a:cubicBezTo>
                  <a:pt x="149423" y="319286"/>
                  <a:pt x="129580" y="312043"/>
                  <a:pt x="110232" y="301129"/>
                </a:cubicBezTo>
                <a:cubicBezTo>
                  <a:pt x="56555" y="271066"/>
                  <a:pt x="8136" y="214412"/>
                  <a:pt x="1191" y="112712"/>
                </a:cubicBezTo>
                <a:cubicBezTo>
                  <a:pt x="-695" y="84832"/>
                  <a:pt x="22027" y="63401"/>
                  <a:pt x="47923" y="63401"/>
                </a:cubicBezTo>
                <a:lnTo>
                  <a:pt x="97135" y="63401"/>
                </a:lnTo>
                <a:cubicBezTo>
                  <a:pt x="96838" y="58241"/>
                  <a:pt x="96639" y="53082"/>
                  <a:pt x="96441" y="47724"/>
                </a:cubicBezTo>
                <a:cubicBezTo>
                  <a:pt x="95448" y="21431"/>
                  <a:pt x="116880" y="-99"/>
                  <a:pt x="143173" y="-99"/>
                </a:cubicBezTo>
                <a:close/>
                <a:moveTo>
                  <a:pt x="100707" y="111125"/>
                </a:moveTo>
                <a:lnTo>
                  <a:pt x="48716" y="111125"/>
                </a:lnTo>
                <a:cubicBezTo>
                  <a:pt x="54868" y="195163"/>
                  <a:pt x="93464" y="237232"/>
                  <a:pt x="133251" y="259556"/>
                </a:cubicBezTo>
                <a:cubicBezTo>
                  <a:pt x="118963" y="222548"/>
                  <a:pt x="107156" y="174228"/>
                  <a:pt x="100707" y="111125"/>
                </a:cubicBezTo>
                <a:close/>
                <a:moveTo>
                  <a:pt x="377031" y="254794"/>
                </a:moveTo>
                <a:cubicBezTo>
                  <a:pt x="417215" y="231180"/>
                  <a:pt x="453529" y="189210"/>
                  <a:pt x="459680" y="111125"/>
                </a:cubicBezTo>
                <a:lnTo>
                  <a:pt x="407789" y="111125"/>
                </a:lnTo>
                <a:cubicBezTo>
                  <a:pt x="401638" y="171549"/>
                  <a:pt x="390525" y="218480"/>
                  <a:pt x="377031" y="254794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7137400" y="450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XP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137400" y="5143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система очков и рейтинг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217400" y="3556000"/>
            <a:ext cx="50800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6238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51908" y="238125"/>
                </a:moveTo>
                <a:lnTo>
                  <a:pt x="296686" y="238125"/>
                </a:lnTo>
                <a:cubicBezTo>
                  <a:pt x="281076" y="238125"/>
                  <a:pt x="268464" y="223937"/>
                  <a:pt x="268464" y="206375"/>
                </a:cubicBezTo>
                <a:lnTo>
                  <a:pt x="268464" y="31750"/>
                </a:lnTo>
                <a:cubicBezTo>
                  <a:pt x="268464" y="14188"/>
                  <a:pt x="281164" y="-198"/>
                  <a:pt x="296598" y="2084"/>
                </a:cubicBezTo>
                <a:cubicBezTo>
                  <a:pt x="390966" y="16173"/>
                  <a:pt x="465755" y="100310"/>
                  <a:pt x="478278" y="206474"/>
                </a:cubicBezTo>
                <a:cubicBezTo>
                  <a:pt x="480307" y="223838"/>
                  <a:pt x="467519" y="238125"/>
                  <a:pt x="451908" y="238125"/>
                </a:cubicBezTo>
                <a:close/>
                <a:moveTo>
                  <a:pt x="196321" y="36909"/>
                </a:moveTo>
                <a:cubicBezTo>
                  <a:pt x="212284" y="33139"/>
                  <a:pt x="226131" y="47823"/>
                  <a:pt x="226131" y="66179"/>
                </a:cubicBezTo>
                <a:lnTo>
                  <a:pt x="226131" y="261937"/>
                </a:lnTo>
                <a:cubicBezTo>
                  <a:pt x="226131" y="267494"/>
                  <a:pt x="227894" y="272852"/>
                  <a:pt x="230981" y="277118"/>
                </a:cubicBezTo>
                <a:lnTo>
                  <a:pt x="347486" y="435273"/>
                </a:lnTo>
                <a:cubicBezTo>
                  <a:pt x="357805" y="449263"/>
                  <a:pt x="355600" y="470396"/>
                  <a:pt x="341401" y="479028"/>
                </a:cubicBezTo>
                <a:cubicBezTo>
                  <a:pt x="311326" y="497483"/>
                  <a:pt x="276842" y="508000"/>
                  <a:pt x="240242" y="508000"/>
                </a:cubicBezTo>
                <a:cubicBezTo>
                  <a:pt x="123384" y="508000"/>
                  <a:pt x="28575" y="401340"/>
                  <a:pt x="28575" y="269875"/>
                </a:cubicBezTo>
                <a:cubicBezTo>
                  <a:pt x="28575" y="155277"/>
                  <a:pt x="100453" y="59630"/>
                  <a:pt x="196321" y="36909"/>
                </a:cubicBezTo>
                <a:close/>
                <a:moveTo>
                  <a:pt x="421393" y="285750"/>
                </a:moveTo>
                <a:lnTo>
                  <a:pt x="477838" y="285750"/>
                </a:lnTo>
                <a:cubicBezTo>
                  <a:pt x="494153" y="285750"/>
                  <a:pt x="507206" y="301327"/>
                  <a:pt x="503855" y="319286"/>
                </a:cubicBezTo>
                <a:cubicBezTo>
                  <a:pt x="494859" y="367308"/>
                  <a:pt x="472987" y="409972"/>
                  <a:pt x="442472" y="442516"/>
                </a:cubicBezTo>
                <a:cubicBezTo>
                  <a:pt x="431624" y="454124"/>
                  <a:pt x="414602" y="451644"/>
                  <a:pt x="405077" y="438646"/>
                </a:cubicBezTo>
                <a:lnTo>
                  <a:pt x="330641" y="337741"/>
                </a:lnTo>
                <a:cubicBezTo>
                  <a:pt x="315383" y="317004"/>
                  <a:pt x="328524" y="285750"/>
                  <a:pt x="352337" y="285750"/>
                </a:cubicBezTo>
                <a:lnTo>
                  <a:pt x="421305" y="28575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5" name="Text 13"/>
          <p:cNvSpPr/>
          <p:nvPr/>
        </p:nvSpPr>
        <p:spPr>
          <a:xfrm>
            <a:off x="12623800" y="450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2623800" y="51435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режимов тренировки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7703800" y="3556000"/>
            <a:ext cx="5435600" cy="203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102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9" name="Text 17"/>
          <p:cNvSpPr/>
          <p:nvPr/>
        </p:nvSpPr>
        <p:spPr>
          <a:xfrm>
            <a:off x="18110200" y="450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8110200" y="51435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типа учебных материалов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44600" y="6223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Предметы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1244600" y="7048500"/>
            <a:ext cx="5080000" cy="165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1524000" y="73025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2413000" y="73025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Математика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413000" y="7810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 заданий, 235 мин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731000" y="7048500"/>
            <a:ext cx="5080000" cy="165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7" name="Text 25"/>
          <p:cNvSpPr/>
          <p:nvPr/>
        </p:nvSpPr>
        <p:spPr>
          <a:xfrm>
            <a:off x="7010400" y="73025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899400" y="73025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Русский язык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899400" y="7810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ru-RU" sz="18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r>
              <a:rPr lang="en-US" sz="18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заданий</a:t>
            </a:r>
            <a:r>
              <a:rPr lang="en-US" sz="1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210 мин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217400" y="7048500"/>
            <a:ext cx="5080000" cy="165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1" name="Text 29"/>
          <p:cNvSpPr/>
          <p:nvPr/>
        </p:nvSpPr>
        <p:spPr>
          <a:xfrm>
            <a:off x="12496800" y="73025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13385800" y="73025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3385800" y="7810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18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</a:t>
            </a:r>
            <a:r>
              <a:rPr lang="en-US" sz="180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заданий, 235 мин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7703800" y="7048500"/>
            <a:ext cx="5435600" cy="165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5" name="Text 33"/>
          <p:cNvSpPr/>
          <p:nvPr/>
        </p:nvSpPr>
        <p:spPr>
          <a:xfrm>
            <a:off x="17983200" y="73025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18872200" y="7302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Информатика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8872200" y="7810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27 заданий, 235 мин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44600" y="9271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Динамика прогресса</a:t>
            </a:r>
            <a:endParaRPr lang="en-US" sz="32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1244600" y="10033000"/>
          <a:ext cx="21894800" cy="292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Режимы тренировки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244600" y="24765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Четыре режима для максимально эффективной подготовки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44600" y="3556000"/>
            <a:ext cx="5334000" cy="863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1244600" y="3556000"/>
            <a:ext cx="5334000" cy="76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1651000" y="406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800" y="233124"/>
                </a:moveTo>
                <a:lnTo>
                  <a:pt x="272203" y="335637"/>
                </a:lnTo>
                <a:cubicBezTo>
                  <a:pt x="282575" y="340400"/>
                  <a:pt x="293582" y="342900"/>
                  <a:pt x="304800" y="342900"/>
                </a:cubicBezTo>
                <a:cubicBezTo>
                  <a:pt x="316018" y="342900"/>
                  <a:pt x="327025" y="340400"/>
                  <a:pt x="337397" y="335637"/>
                </a:cubicBezTo>
                <a:lnTo>
                  <a:pt x="593937" y="216813"/>
                </a:lnTo>
                <a:cubicBezTo>
                  <a:pt x="603462" y="212407"/>
                  <a:pt x="609600" y="202049"/>
                  <a:pt x="609600" y="190500"/>
                </a:cubicBezTo>
                <a:cubicBezTo>
                  <a:pt x="609600" y="178951"/>
                  <a:pt x="603462" y="168592"/>
                  <a:pt x="593937" y="164187"/>
                </a:cubicBezTo>
                <a:lnTo>
                  <a:pt x="337397" y="45363"/>
                </a:lnTo>
                <a:cubicBezTo>
                  <a:pt x="327025" y="40600"/>
                  <a:pt x="316018" y="38100"/>
                  <a:pt x="304800" y="38100"/>
                </a:cubicBezTo>
                <a:cubicBezTo>
                  <a:pt x="293582" y="38100"/>
                  <a:pt x="282575" y="40600"/>
                  <a:pt x="272203" y="45363"/>
                </a:cubicBezTo>
                <a:lnTo>
                  <a:pt x="15663" y="164187"/>
                </a:lnTo>
                <a:cubicBezTo>
                  <a:pt x="6138" y="168592"/>
                  <a:pt x="0" y="178951"/>
                  <a:pt x="0" y="190500"/>
                </a:cubicBezTo>
                <a:lnTo>
                  <a:pt x="0" y="542925"/>
                </a:lnTo>
                <a:cubicBezTo>
                  <a:pt x="0" y="558760"/>
                  <a:pt x="11324" y="571500"/>
                  <a:pt x="25400" y="571500"/>
                </a:cubicBezTo>
                <a:cubicBezTo>
                  <a:pt x="39476" y="571500"/>
                  <a:pt x="50800" y="558760"/>
                  <a:pt x="50800" y="542925"/>
                </a:cubicBezTo>
                <a:lnTo>
                  <a:pt x="50800" y="233124"/>
                </a:lnTo>
                <a:close/>
                <a:moveTo>
                  <a:pt x="101600" y="318492"/>
                </a:moveTo>
                <a:lnTo>
                  <a:pt x="101600" y="457200"/>
                </a:lnTo>
                <a:cubicBezTo>
                  <a:pt x="101600" y="520303"/>
                  <a:pt x="192617" y="571500"/>
                  <a:pt x="304800" y="571500"/>
                </a:cubicBezTo>
                <a:cubicBezTo>
                  <a:pt x="416983" y="571500"/>
                  <a:pt x="508000" y="520303"/>
                  <a:pt x="508000" y="457200"/>
                </a:cubicBezTo>
                <a:lnTo>
                  <a:pt x="508000" y="318373"/>
                </a:lnTo>
                <a:lnTo>
                  <a:pt x="356764" y="388501"/>
                </a:lnTo>
                <a:cubicBezTo>
                  <a:pt x="340254" y="396121"/>
                  <a:pt x="322686" y="400050"/>
                  <a:pt x="304800" y="400050"/>
                </a:cubicBezTo>
                <a:cubicBezTo>
                  <a:pt x="286914" y="400050"/>
                  <a:pt x="269346" y="396121"/>
                  <a:pt x="252836" y="388501"/>
                </a:cubicBezTo>
                <a:lnTo>
                  <a:pt x="101600" y="318373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4953000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Экзамен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51000" y="5715000"/>
            <a:ext cx="457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Полная имитация условий ЕГЭ с таймером обратного отсчёта.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Ограничение по времени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Анти-чит система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Детальный разбор после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Автодобавление в банк ошибок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985000" y="3556000"/>
            <a:ext cx="5334000" cy="863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6985000" y="3556000"/>
            <a:ext cx="5334000" cy="762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91400" y="406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61499" y="25837"/>
                </a:moveTo>
                <a:cubicBezTo>
                  <a:pt x="535424" y="-238"/>
                  <a:pt x="493276" y="-238"/>
                  <a:pt x="467201" y="25837"/>
                </a:cubicBezTo>
                <a:lnTo>
                  <a:pt x="438150" y="54888"/>
                </a:lnTo>
                <a:lnTo>
                  <a:pt x="554712" y="171450"/>
                </a:lnTo>
                <a:lnTo>
                  <a:pt x="583763" y="142399"/>
                </a:lnTo>
                <a:cubicBezTo>
                  <a:pt x="609838" y="116324"/>
                  <a:pt x="609838" y="74176"/>
                  <a:pt x="583763" y="48101"/>
                </a:cubicBezTo>
                <a:lnTo>
                  <a:pt x="561499" y="25837"/>
                </a:lnTo>
                <a:close/>
                <a:moveTo>
                  <a:pt x="205264" y="287774"/>
                </a:moveTo>
                <a:cubicBezTo>
                  <a:pt x="198001" y="295037"/>
                  <a:pt x="192405" y="303967"/>
                  <a:pt x="189190" y="313849"/>
                </a:cubicBezTo>
                <a:lnTo>
                  <a:pt x="153948" y="419576"/>
                </a:lnTo>
                <a:cubicBezTo>
                  <a:pt x="150495" y="429816"/>
                  <a:pt x="153233" y="441127"/>
                  <a:pt x="160853" y="448866"/>
                </a:cubicBezTo>
                <a:cubicBezTo>
                  <a:pt x="168473" y="456605"/>
                  <a:pt x="179784" y="459224"/>
                  <a:pt x="190143" y="455771"/>
                </a:cubicBezTo>
                <a:lnTo>
                  <a:pt x="295870" y="420529"/>
                </a:lnTo>
                <a:cubicBezTo>
                  <a:pt x="305633" y="417314"/>
                  <a:pt x="314563" y="411718"/>
                  <a:pt x="321945" y="404455"/>
                </a:cubicBezTo>
                <a:lnTo>
                  <a:pt x="514350" y="211812"/>
                </a:lnTo>
                <a:lnTo>
                  <a:pt x="397788" y="95250"/>
                </a:lnTo>
                <a:lnTo>
                  <a:pt x="205264" y="287774"/>
                </a:lnTo>
                <a:close/>
                <a:moveTo>
                  <a:pt x="114300" y="76200"/>
                </a:moveTo>
                <a:cubicBezTo>
                  <a:pt x="51197" y="76200"/>
                  <a:pt x="0" y="127397"/>
                  <a:pt x="0" y="190500"/>
                </a:cubicBezTo>
                <a:lnTo>
                  <a:pt x="0" y="495300"/>
                </a:lnTo>
                <a:cubicBezTo>
                  <a:pt x="0" y="558403"/>
                  <a:pt x="51197" y="609600"/>
                  <a:pt x="114300" y="609600"/>
                </a:cubicBezTo>
                <a:lnTo>
                  <a:pt x="419100" y="609600"/>
                </a:lnTo>
                <a:cubicBezTo>
                  <a:pt x="482203" y="609600"/>
                  <a:pt x="533400" y="558403"/>
                  <a:pt x="533400" y="495300"/>
                </a:cubicBezTo>
                <a:lnTo>
                  <a:pt x="533400" y="381000"/>
                </a:lnTo>
                <a:cubicBezTo>
                  <a:pt x="533400" y="359926"/>
                  <a:pt x="516374" y="342900"/>
                  <a:pt x="495300" y="342900"/>
                </a:cubicBezTo>
                <a:cubicBezTo>
                  <a:pt x="474226" y="342900"/>
                  <a:pt x="457200" y="359926"/>
                  <a:pt x="457200" y="381000"/>
                </a:cubicBezTo>
                <a:lnTo>
                  <a:pt x="457200" y="495300"/>
                </a:lnTo>
                <a:cubicBezTo>
                  <a:pt x="457200" y="516374"/>
                  <a:pt x="440174" y="533400"/>
                  <a:pt x="419100" y="533400"/>
                </a:cubicBezTo>
                <a:lnTo>
                  <a:pt x="114300" y="533400"/>
                </a:lnTo>
                <a:cubicBezTo>
                  <a:pt x="93226" y="533400"/>
                  <a:pt x="76200" y="516374"/>
                  <a:pt x="76200" y="495300"/>
                </a:cubicBezTo>
                <a:lnTo>
                  <a:pt x="76200" y="190500"/>
                </a:lnTo>
                <a:cubicBezTo>
                  <a:pt x="76200" y="169426"/>
                  <a:pt x="93226" y="152400"/>
                  <a:pt x="114300" y="152400"/>
                </a:cubicBezTo>
                <a:lnTo>
                  <a:pt x="228600" y="152400"/>
                </a:lnTo>
                <a:cubicBezTo>
                  <a:pt x="249674" y="152400"/>
                  <a:pt x="266700" y="135374"/>
                  <a:pt x="266700" y="114300"/>
                </a:cubicBezTo>
                <a:cubicBezTo>
                  <a:pt x="266700" y="93226"/>
                  <a:pt x="249674" y="76200"/>
                  <a:pt x="228600" y="76200"/>
                </a:cubicBezTo>
                <a:lnTo>
                  <a:pt x="114300" y="7620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3" name="Text 11"/>
          <p:cNvSpPr/>
          <p:nvPr/>
        </p:nvSpPr>
        <p:spPr>
          <a:xfrm>
            <a:off x="7391400" y="4953000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Обычный тест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391400" y="5715000"/>
            <a:ext cx="457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Задания части 1 с выбором ответа и детальными объяснениями.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10 случайных заданий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Объяснение каждого ответа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Разбор типичных ошибок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Начисление XP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2725400" y="3556000"/>
            <a:ext cx="5334000" cy="863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725400" y="3556000"/>
            <a:ext cx="5334000" cy="76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3131800" y="406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60308" y="141208"/>
                </a:moveTo>
                <a:cubicBezTo>
                  <a:pt x="575191" y="126325"/>
                  <a:pt x="575191" y="102156"/>
                  <a:pt x="560308" y="87273"/>
                </a:cubicBezTo>
                <a:lnTo>
                  <a:pt x="484108" y="11073"/>
                </a:lnTo>
                <a:cubicBezTo>
                  <a:pt x="473154" y="119"/>
                  <a:pt x="456843" y="-3096"/>
                  <a:pt x="442555" y="2857"/>
                </a:cubicBezTo>
                <a:cubicBezTo>
                  <a:pt x="428268" y="8811"/>
                  <a:pt x="419100" y="22741"/>
                  <a:pt x="419100" y="38100"/>
                </a:cubicBezTo>
                <a:lnTo>
                  <a:pt x="419100" y="76200"/>
                </a:lnTo>
                <a:lnTo>
                  <a:pt x="228600" y="76200"/>
                </a:lnTo>
                <a:cubicBezTo>
                  <a:pt x="102394" y="76200"/>
                  <a:pt x="0" y="178594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cubicBezTo>
                  <a:pt x="59174" y="342900"/>
                  <a:pt x="76200" y="325874"/>
                  <a:pt x="76200" y="304800"/>
                </a:cubicBezTo>
                <a:cubicBezTo>
                  <a:pt x="76200" y="220623"/>
                  <a:pt x="144423" y="152400"/>
                  <a:pt x="228600" y="152400"/>
                </a:cubicBezTo>
                <a:lnTo>
                  <a:pt x="419100" y="152400"/>
                </a:lnTo>
                <a:lnTo>
                  <a:pt x="419100" y="190500"/>
                </a:lnTo>
                <a:cubicBezTo>
                  <a:pt x="419100" y="205859"/>
                  <a:pt x="428387" y="219789"/>
                  <a:pt x="442674" y="225743"/>
                </a:cubicBezTo>
                <a:cubicBezTo>
                  <a:pt x="456962" y="231696"/>
                  <a:pt x="473273" y="228362"/>
                  <a:pt x="484227" y="217527"/>
                </a:cubicBezTo>
                <a:lnTo>
                  <a:pt x="560427" y="141327"/>
                </a:lnTo>
                <a:close/>
                <a:moveTo>
                  <a:pt x="49292" y="468392"/>
                </a:moveTo>
                <a:cubicBezTo>
                  <a:pt x="34409" y="483275"/>
                  <a:pt x="34409" y="507444"/>
                  <a:pt x="49292" y="522327"/>
                </a:cubicBezTo>
                <a:lnTo>
                  <a:pt x="125492" y="598527"/>
                </a:lnTo>
                <a:cubicBezTo>
                  <a:pt x="136446" y="609481"/>
                  <a:pt x="152757" y="612696"/>
                  <a:pt x="167045" y="606743"/>
                </a:cubicBezTo>
                <a:cubicBezTo>
                  <a:pt x="181332" y="600789"/>
                  <a:pt x="190500" y="586859"/>
                  <a:pt x="190500" y="571500"/>
                </a:cubicBezTo>
                <a:lnTo>
                  <a:pt x="190500" y="533400"/>
                </a:lnTo>
                <a:lnTo>
                  <a:pt x="381000" y="533400"/>
                </a:lnTo>
                <a:cubicBezTo>
                  <a:pt x="507206" y="533400"/>
                  <a:pt x="609600" y="431006"/>
                  <a:pt x="609600" y="304800"/>
                </a:cubicBezTo>
                <a:cubicBezTo>
                  <a:pt x="609600" y="283726"/>
                  <a:pt x="592574" y="266700"/>
                  <a:pt x="571500" y="266700"/>
                </a:cubicBezTo>
                <a:cubicBezTo>
                  <a:pt x="550426" y="266700"/>
                  <a:pt x="533400" y="283726"/>
                  <a:pt x="533400" y="304800"/>
                </a:cubicBezTo>
                <a:cubicBezTo>
                  <a:pt x="533400" y="388977"/>
                  <a:pt x="465177" y="457200"/>
                  <a:pt x="381000" y="457200"/>
                </a:cubicBezTo>
                <a:lnTo>
                  <a:pt x="190500" y="457200"/>
                </a:lnTo>
                <a:lnTo>
                  <a:pt x="190500" y="419100"/>
                </a:lnTo>
                <a:cubicBezTo>
                  <a:pt x="190500" y="403741"/>
                  <a:pt x="181213" y="389811"/>
                  <a:pt x="166926" y="383858"/>
                </a:cubicBezTo>
                <a:cubicBezTo>
                  <a:pt x="152638" y="377904"/>
                  <a:pt x="136327" y="381238"/>
                  <a:pt x="125373" y="392073"/>
                </a:cubicBezTo>
                <a:lnTo>
                  <a:pt x="49173" y="468273"/>
                </a:ln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13131800" y="4953000"/>
            <a:ext cx="457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Набивка руки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131800" y="5715000"/>
            <a:ext cx="457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Отработка конкретных номеров заданий до автоматизма.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Выбор номера задания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20 вариантов подряд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Достижение 100% точности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Фокус на слабые места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8465800" y="3556000"/>
            <a:ext cx="4673600" cy="863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Shape 19"/>
          <p:cNvSpPr/>
          <p:nvPr/>
        </p:nvSpPr>
        <p:spPr>
          <a:xfrm>
            <a:off x="18465800" y="3556000"/>
            <a:ext cx="4673600" cy="76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18872200" y="406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61010" y="-11787"/>
                </a:moveTo>
                <a:cubicBezTo>
                  <a:pt x="477203" y="-1548"/>
                  <a:pt x="483190" y="17026"/>
                  <a:pt x="475842" y="33218"/>
                </a:cubicBezTo>
                <a:lnTo>
                  <a:pt x="369162" y="266700"/>
                </a:lnTo>
                <a:lnTo>
                  <a:pt x="566057" y="266700"/>
                </a:lnTo>
                <a:cubicBezTo>
                  <a:pt x="584427" y="266700"/>
                  <a:pt x="600755" y="276701"/>
                  <a:pt x="607015" y="291822"/>
                </a:cubicBezTo>
                <a:cubicBezTo>
                  <a:pt x="613274" y="306943"/>
                  <a:pt x="607967" y="323850"/>
                  <a:pt x="593952" y="334089"/>
                </a:cubicBezTo>
                <a:lnTo>
                  <a:pt x="202066" y="619839"/>
                </a:lnTo>
                <a:cubicBezTo>
                  <a:pt x="186690" y="631031"/>
                  <a:pt x="164783" y="631627"/>
                  <a:pt x="148590" y="621387"/>
                </a:cubicBezTo>
                <a:cubicBezTo>
                  <a:pt x="132398" y="611148"/>
                  <a:pt x="126410" y="592574"/>
                  <a:pt x="133758" y="576382"/>
                </a:cubicBezTo>
                <a:lnTo>
                  <a:pt x="240438" y="342900"/>
                </a:lnTo>
                <a:lnTo>
                  <a:pt x="43543" y="342900"/>
                </a:lnTo>
                <a:cubicBezTo>
                  <a:pt x="25173" y="342900"/>
                  <a:pt x="8845" y="332899"/>
                  <a:pt x="2585" y="317778"/>
                </a:cubicBezTo>
                <a:cubicBezTo>
                  <a:pt x="-3674" y="302657"/>
                  <a:pt x="1633" y="285750"/>
                  <a:pt x="15648" y="275511"/>
                </a:cubicBezTo>
                <a:lnTo>
                  <a:pt x="407534" y="-10239"/>
                </a:lnTo>
                <a:cubicBezTo>
                  <a:pt x="422910" y="-21431"/>
                  <a:pt x="444818" y="-22027"/>
                  <a:pt x="461010" y="-11787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18872200" y="4953000"/>
            <a:ext cx="3937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Адаптив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8872200" y="5715000"/>
            <a:ext cx="3937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Автоматический подбор заданий по слабым темам.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Анализ истории ошибок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Персональные задания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Интервальное повторение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Умный прогресс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Режим «Экзамен» и анти-чит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4600" y="2794000"/>
            <a:ext cx="10795000" cy="939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3175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Имитация ЕГЭ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51000" y="4064000"/>
            <a:ext cx="10033000" cy="7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Таймер обратного отсчёта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210–235 минут в зависимости от предмета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Анти-чит система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Отслеживание покидания страницы и потери фокуса окна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Детальный разбор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Правильные/неправильные ответы с объяснениями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Анализ времени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Сколько времени потрачено на каждое задание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Банк ошибок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Неверные ответы автоматически добавляются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573000" y="2794000"/>
            <a:ext cx="10566400" cy="2794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130810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ubicBezTo>
                  <a:pt x="0" y="113814"/>
                  <a:pt x="113814" y="0"/>
                  <a:pt x="254000" y="0"/>
                </a:cubicBezTo>
                <a:close/>
                <a:moveTo>
                  <a:pt x="230188" y="119063"/>
                </a:moveTo>
                <a:lnTo>
                  <a:pt x="230188" y="254000"/>
                </a:lnTo>
                <a:cubicBezTo>
                  <a:pt x="230188" y="261937"/>
                  <a:pt x="234156" y="269379"/>
                  <a:pt x="240804" y="273844"/>
                </a:cubicBezTo>
                <a:lnTo>
                  <a:pt x="336054" y="337344"/>
                </a:lnTo>
                <a:cubicBezTo>
                  <a:pt x="346968" y="344686"/>
                  <a:pt x="361752" y="341709"/>
                  <a:pt x="369094" y="330696"/>
                </a:cubicBezTo>
                <a:cubicBezTo>
                  <a:pt x="376436" y="319683"/>
                  <a:pt x="373459" y="304998"/>
                  <a:pt x="362446" y="297656"/>
                </a:cubicBezTo>
                <a:lnTo>
                  <a:pt x="277813" y="241300"/>
                </a:lnTo>
                <a:lnTo>
                  <a:pt x="277813" y="119063"/>
                </a:lnTo>
                <a:cubicBezTo>
                  <a:pt x="277813" y="105866"/>
                  <a:pt x="267196" y="95250"/>
                  <a:pt x="254000" y="95250"/>
                </a:cubicBezTo>
                <a:cubicBezTo>
                  <a:pt x="240804" y="95250"/>
                  <a:pt x="230188" y="105866"/>
                  <a:pt x="230188" y="119063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3779500" y="317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Время экзамена</a:t>
            </a:r>
            <a:endParaRPr lang="en-US" sz="2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12573000" y="3810000"/>
          <a:ext cx="10566400" cy="165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12573000" y="5969000"/>
            <a:ext cx="10566400" cy="304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9"/>
          <p:cNvSpPr/>
          <p:nvPr/>
        </p:nvSpPr>
        <p:spPr>
          <a:xfrm>
            <a:off x="13081000" y="635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13779500" y="6350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Анти-чит система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3081000" y="7112000"/>
            <a:ext cx="965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Отслеживание visibilitychange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Отслеживание потери фокуса окна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Счётчик нарушений в протоколе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12573000" y="9144000"/>
            <a:ext cx="10566400" cy="304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3081000" y="952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1956" y="31750"/>
                </a:moveTo>
                <a:lnTo>
                  <a:pt x="423333" y="31750"/>
                </a:lnTo>
                <a:cubicBezTo>
                  <a:pt x="470032" y="31750"/>
                  <a:pt x="508000" y="60226"/>
                  <a:pt x="508000" y="95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95250"/>
                </a:lnTo>
                <a:cubicBezTo>
                  <a:pt x="0" y="60226"/>
                  <a:pt x="37968" y="31750"/>
                  <a:pt x="84667" y="31750"/>
                </a:cubicBezTo>
                <a:lnTo>
                  <a:pt x="96044" y="31750"/>
                </a:lnTo>
                <a:cubicBezTo>
                  <a:pt x="110596" y="12799"/>
                  <a:pt x="137980" y="0"/>
                  <a:pt x="169333" y="0"/>
                </a:cubicBezTo>
                <a:lnTo>
                  <a:pt x="338667" y="0"/>
                </a:lnTo>
                <a:cubicBezTo>
                  <a:pt x="370020" y="0"/>
                  <a:pt x="397404" y="12799"/>
                  <a:pt x="411956" y="31750"/>
                </a:cubicBezTo>
                <a:close/>
                <a:moveTo>
                  <a:pt x="328083" y="111125"/>
                </a:moveTo>
                <a:cubicBezTo>
                  <a:pt x="345678" y="111125"/>
                  <a:pt x="359833" y="100509"/>
                  <a:pt x="359833" y="87313"/>
                </a:cubicBezTo>
                <a:cubicBezTo>
                  <a:pt x="359833" y="74116"/>
                  <a:pt x="345678" y="63500"/>
                  <a:pt x="328083" y="63500"/>
                </a:cubicBezTo>
                <a:lnTo>
                  <a:pt x="179917" y="63500"/>
                </a:lnTo>
                <a:cubicBezTo>
                  <a:pt x="162322" y="63500"/>
                  <a:pt x="148167" y="74116"/>
                  <a:pt x="148167" y="87313"/>
                </a:cubicBezTo>
                <a:cubicBezTo>
                  <a:pt x="148167" y="100509"/>
                  <a:pt x="162322" y="111125"/>
                  <a:pt x="179917" y="111125"/>
                </a:cubicBezTo>
                <a:lnTo>
                  <a:pt x="328083" y="111125"/>
                </a:lnTo>
                <a:close/>
                <a:moveTo>
                  <a:pt x="365654" y="258663"/>
                </a:moveTo>
                <a:cubicBezTo>
                  <a:pt x="374915" y="247551"/>
                  <a:pt x="370417" y="232866"/>
                  <a:pt x="355600" y="225822"/>
                </a:cubicBezTo>
                <a:cubicBezTo>
                  <a:pt x="340783" y="218777"/>
                  <a:pt x="321204" y="222250"/>
                  <a:pt x="311811" y="233362"/>
                </a:cubicBezTo>
                <a:lnTo>
                  <a:pt x="230584" y="330895"/>
                </a:lnTo>
                <a:lnTo>
                  <a:pt x="194866" y="295176"/>
                </a:lnTo>
                <a:cubicBezTo>
                  <a:pt x="184282" y="284659"/>
                  <a:pt x="164439" y="282476"/>
                  <a:pt x="150416" y="290413"/>
                </a:cubicBezTo>
                <a:cubicBezTo>
                  <a:pt x="136393" y="298351"/>
                  <a:pt x="133482" y="313234"/>
                  <a:pt x="144066" y="323751"/>
                </a:cubicBezTo>
                <a:lnTo>
                  <a:pt x="207566" y="387251"/>
                </a:lnTo>
                <a:cubicBezTo>
                  <a:pt x="213783" y="393502"/>
                  <a:pt x="223837" y="397073"/>
                  <a:pt x="234289" y="396776"/>
                </a:cubicBezTo>
                <a:cubicBezTo>
                  <a:pt x="244740" y="396478"/>
                  <a:pt x="254265" y="392311"/>
                  <a:pt x="259821" y="385564"/>
                </a:cubicBezTo>
                <a:lnTo>
                  <a:pt x="365654" y="258564"/>
                </a:ln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13779500" y="952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 экзамена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3081000" y="10287000"/>
            <a:ext cx="965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Итоговый балл в процентах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Разбор каждого ответа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Рекомендации по слабым темам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Адаптивное обучение и Банк ошибок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4600" y="2794000"/>
            <a:ext cx="10795000" cy="457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1244600" y="2794000"/>
            <a:ext cx="76200" cy="4572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16510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4175" y="-9823"/>
                </a:moveTo>
                <a:cubicBezTo>
                  <a:pt x="397669" y="-1290"/>
                  <a:pt x="402658" y="14188"/>
                  <a:pt x="396535" y="27682"/>
                </a:cubicBezTo>
                <a:lnTo>
                  <a:pt x="307635" y="222250"/>
                </a:lnTo>
                <a:lnTo>
                  <a:pt x="471714" y="222250"/>
                </a:lnTo>
                <a:cubicBezTo>
                  <a:pt x="487022" y="222250"/>
                  <a:pt x="500629" y="230584"/>
                  <a:pt x="505846" y="243185"/>
                </a:cubicBezTo>
                <a:cubicBezTo>
                  <a:pt x="511062" y="255786"/>
                  <a:pt x="506639" y="269875"/>
                  <a:pt x="494960" y="278408"/>
                </a:cubicBezTo>
                <a:lnTo>
                  <a:pt x="168388" y="516533"/>
                </a:lnTo>
                <a:cubicBezTo>
                  <a:pt x="155575" y="525859"/>
                  <a:pt x="137319" y="526355"/>
                  <a:pt x="123825" y="517823"/>
                </a:cubicBezTo>
                <a:cubicBezTo>
                  <a:pt x="110331" y="509290"/>
                  <a:pt x="105342" y="493812"/>
                  <a:pt x="111465" y="480318"/>
                </a:cubicBezTo>
                <a:lnTo>
                  <a:pt x="200365" y="285750"/>
                </a:lnTo>
                <a:lnTo>
                  <a:pt x="36286" y="285750"/>
                </a:lnTo>
                <a:cubicBezTo>
                  <a:pt x="20978" y="285750"/>
                  <a:pt x="7371" y="277416"/>
                  <a:pt x="2154" y="264815"/>
                </a:cubicBezTo>
                <a:cubicBezTo>
                  <a:pt x="-3062" y="252214"/>
                  <a:pt x="1361" y="238125"/>
                  <a:pt x="13040" y="229592"/>
                </a:cubicBezTo>
                <a:lnTo>
                  <a:pt x="339612" y="-8533"/>
                </a:lnTo>
                <a:cubicBezTo>
                  <a:pt x="352425" y="-17859"/>
                  <a:pt x="370681" y="-18355"/>
                  <a:pt x="384175" y="-9823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3937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Адаптивный режим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51000" y="4699000"/>
            <a:ext cx="10033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Анализирует историю ответов и выявляет 5 слабых тем с наибольшим числом ошибок. Автоматически подбирает 15 заданий именно по этим темам.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573000" y="2794000"/>
            <a:ext cx="10566400" cy="4572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12573000" y="2794000"/>
            <a:ext cx="76200" cy="4572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129794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165695" y="165695"/>
                </a:moveTo>
                <a:cubicBezTo>
                  <a:pt x="175022" y="156369"/>
                  <a:pt x="190103" y="156369"/>
                  <a:pt x="199330" y="165695"/>
                </a:cubicBezTo>
                <a:lnTo>
                  <a:pt x="253901" y="220266"/>
                </a:lnTo>
                <a:lnTo>
                  <a:pt x="308471" y="165695"/>
                </a:lnTo>
                <a:cubicBezTo>
                  <a:pt x="317798" y="156369"/>
                  <a:pt x="332879" y="156369"/>
                  <a:pt x="342106" y="165695"/>
                </a:cubicBezTo>
                <a:cubicBezTo>
                  <a:pt x="351334" y="175022"/>
                  <a:pt x="351433" y="190103"/>
                  <a:pt x="342106" y="199330"/>
                </a:cubicBezTo>
                <a:lnTo>
                  <a:pt x="287536" y="253901"/>
                </a:lnTo>
                <a:lnTo>
                  <a:pt x="342106" y="308471"/>
                </a:lnTo>
                <a:cubicBezTo>
                  <a:pt x="351433" y="317798"/>
                  <a:pt x="351433" y="332879"/>
                  <a:pt x="342106" y="342106"/>
                </a:cubicBezTo>
                <a:cubicBezTo>
                  <a:pt x="332780" y="351334"/>
                  <a:pt x="317698" y="351433"/>
                  <a:pt x="308471" y="342106"/>
                </a:cubicBezTo>
                <a:lnTo>
                  <a:pt x="253901" y="287536"/>
                </a:lnTo>
                <a:lnTo>
                  <a:pt x="199330" y="342106"/>
                </a:lnTo>
                <a:cubicBezTo>
                  <a:pt x="190004" y="351433"/>
                  <a:pt x="174923" y="351433"/>
                  <a:pt x="165695" y="342106"/>
                </a:cubicBezTo>
                <a:cubicBezTo>
                  <a:pt x="156468" y="332780"/>
                  <a:pt x="156369" y="317698"/>
                  <a:pt x="165695" y="308471"/>
                </a:cubicBezTo>
                <a:lnTo>
                  <a:pt x="220266" y="253901"/>
                </a:lnTo>
                <a:lnTo>
                  <a:pt x="165695" y="199330"/>
                </a:lnTo>
                <a:cubicBezTo>
                  <a:pt x="156369" y="190004"/>
                  <a:pt x="156369" y="174923"/>
                  <a:pt x="165695" y="165695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2979400" y="3937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Банк ошибок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979400" y="4699000"/>
            <a:ext cx="977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Персональная коллекция неверно решённых заданий. Система интервального повторения. Возможность удаления после освоения темы.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44600" y="7874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Аналитика по заданиям</a:t>
            </a:r>
            <a:endParaRPr lang="en-US" sz="32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1244600" y="8763000"/>
          <a:ext cx="218948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Теория, методички и разборы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244600" y="24765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Полный набор учебных материалов для каждого предмета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44600" y="3556000"/>
            <a:ext cx="6858000" cy="381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16510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5429" y="508000"/>
                </a:moveTo>
                <a:lnTo>
                  <a:pt x="108857" y="508000"/>
                </a:lnTo>
                <a:cubicBezTo>
                  <a:pt x="48759" y="508000"/>
                  <a:pt x="0" y="465336"/>
                  <a:pt x="0" y="412750"/>
                </a:cubicBezTo>
                <a:lnTo>
                  <a:pt x="0" y="95250"/>
                </a:lnTo>
                <a:cubicBezTo>
                  <a:pt x="0" y="42664"/>
                  <a:pt x="48759" y="0"/>
                  <a:pt x="108857" y="0"/>
                </a:cubicBezTo>
                <a:lnTo>
                  <a:pt x="453571" y="0"/>
                </a:lnTo>
                <a:cubicBezTo>
                  <a:pt x="483621" y="0"/>
                  <a:pt x="508000" y="21332"/>
                  <a:pt x="508000" y="47625"/>
                </a:cubicBezTo>
                <a:lnTo>
                  <a:pt x="508000" y="333375"/>
                </a:lnTo>
                <a:cubicBezTo>
                  <a:pt x="508000" y="354112"/>
                  <a:pt x="492805" y="371773"/>
                  <a:pt x="471714" y="378321"/>
                </a:cubicBezTo>
                <a:lnTo>
                  <a:pt x="471714" y="444500"/>
                </a:lnTo>
                <a:cubicBezTo>
                  <a:pt x="491785" y="444500"/>
                  <a:pt x="508000" y="458688"/>
                  <a:pt x="508000" y="476250"/>
                </a:cubicBezTo>
                <a:cubicBezTo>
                  <a:pt x="508000" y="493812"/>
                  <a:pt x="491785" y="508000"/>
                  <a:pt x="471714" y="508000"/>
                </a:cubicBezTo>
                <a:lnTo>
                  <a:pt x="435429" y="508000"/>
                </a:lnTo>
                <a:close/>
                <a:moveTo>
                  <a:pt x="108857" y="381000"/>
                </a:moveTo>
                <a:cubicBezTo>
                  <a:pt x="88787" y="381000"/>
                  <a:pt x="72571" y="395188"/>
                  <a:pt x="72571" y="412750"/>
                </a:cubicBezTo>
                <a:cubicBezTo>
                  <a:pt x="72571" y="430312"/>
                  <a:pt x="88787" y="444500"/>
                  <a:pt x="108857" y="444500"/>
                </a:cubicBezTo>
                <a:lnTo>
                  <a:pt x="399143" y="444500"/>
                </a:lnTo>
                <a:lnTo>
                  <a:pt x="399143" y="381000"/>
                </a:lnTo>
                <a:lnTo>
                  <a:pt x="108857" y="381000"/>
                </a:lnTo>
                <a:close/>
                <a:moveTo>
                  <a:pt x="145143" y="150813"/>
                </a:moveTo>
                <a:cubicBezTo>
                  <a:pt x="145143" y="164009"/>
                  <a:pt x="157276" y="174625"/>
                  <a:pt x="172357" y="174625"/>
                </a:cubicBezTo>
                <a:lnTo>
                  <a:pt x="371929" y="174625"/>
                </a:lnTo>
                <a:cubicBezTo>
                  <a:pt x="387010" y="174625"/>
                  <a:pt x="399143" y="164009"/>
                  <a:pt x="399143" y="150813"/>
                </a:cubicBezTo>
                <a:cubicBezTo>
                  <a:pt x="399143" y="137616"/>
                  <a:pt x="387010" y="127000"/>
                  <a:pt x="371929" y="127000"/>
                </a:cubicBezTo>
                <a:lnTo>
                  <a:pt x="172357" y="127000"/>
                </a:lnTo>
                <a:cubicBezTo>
                  <a:pt x="157276" y="127000"/>
                  <a:pt x="145143" y="137616"/>
                  <a:pt x="145143" y="150813"/>
                </a:cubicBezTo>
                <a:close/>
                <a:moveTo>
                  <a:pt x="172357" y="222250"/>
                </a:moveTo>
                <a:cubicBezTo>
                  <a:pt x="157276" y="222250"/>
                  <a:pt x="145143" y="232866"/>
                  <a:pt x="145143" y="246063"/>
                </a:cubicBezTo>
                <a:cubicBezTo>
                  <a:pt x="145143" y="259259"/>
                  <a:pt x="157276" y="269875"/>
                  <a:pt x="172357" y="269875"/>
                </a:cubicBezTo>
                <a:lnTo>
                  <a:pt x="371929" y="269875"/>
                </a:lnTo>
                <a:cubicBezTo>
                  <a:pt x="387010" y="269875"/>
                  <a:pt x="399143" y="259259"/>
                  <a:pt x="399143" y="246063"/>
                </a:cubicBezTo>
                <a:cubicBezTo>
                  <a:pt x="399143" y="232866"/>
                  <a:pt x="387010" y="222250"/>
                  <a:pt x="371929" y="222250"/>
                </a:cubicBezTo>
                <a:lnTo>
                  <a:pt x="172357" y="22225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4699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Краткие конспекты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51000" y="5397500"/>
            <a:ext cx="609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Системы счисления, производные, орфография, механика — всё в сжатом виде без воды.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36000" y="3556000"/>
            <a:ext cx="6858000" cy="381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90424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04304" y="322560"/>
                </a:moveTo>
                <a:lnTo>
                  <a:pt x="161131" y="377627"/>
                </a:lnTo>
                <a:cubicBezTo>
                  <a:pt x="141883" y="385068"/>
                  <a:pt x="122932" y="366117"/>
                  <a:pt x="130373" y="346869"/>
                </a:cubicBezTo>
                <a:lnTo>
                  <a:pt x="185440" y="203696"/>
                </a:lnTo>
                <a:cubicBezTo>
                  <a:pt x="188714" y="195263"/>
                  <a:pt x="195263" y="188714"/>
                  <a:pt x="203696" y="185440"/>
                </a:cubicBezTo>
                <a:lnTo>
                  <a:pt x="346869" y="130373"/>
                </a:lnTo>
                <a:cubicBezTo>
                  <a:pt x="366117" y="122932"/>
                  <a:pt x="385068" y="141883"/>
                  <a:pt x="377627" y="161131"/>
                </a:cubicBezTo>
                <a:lnTo>
                  <a:pt x="322560" y="304304"/>
                </a:lnTo>
                <a:cubicBezTo>
                  <a:pt x="319385" y="312737"/>
                  <a:pt x="312738" y="319286"/>
                  <a:pt x="304304" y="322560"/>
                </a:cubicBezTo>
                <a:close/>
                <a:moveTo>
                  <a:pt x="285750" y="254000"/>
                </a:moveTo>
                <a:cubicBezTo>
                  <a:pt x="285750" y="236477"/>
                  <a:pt x="271523" y="222250"/>
                  <a:pt x="254000" y="222250"/>
                </a:cubicBezTo>
                <a:cubicBezTo>
                  <a:pt x="236477" y="222250"/>
                  <a:pt x="222250" y="236477"/>
                  <a:pt x="222250" y="254000"/>
                </a:cubicBezTo>
                <a:cubicBezTo>
                  <a:pt x="222250" y="271523"/>
                  <a:pt x="236477" y="285750"/>
                  <a:pt x="254000" y="285750"/>
                </a:cubicBezTo>
                <a:cubicBezTo>
                  <a:pt x="271523" y="285750"/>
                  <a:pt x="285750" y="271523"/>
                  <a:pt x="285750" y="2540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9042400" y="4699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Методички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042400" y="5397500"/>
            <a:ext cx="609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Стратегии экзамена, формулы, алгоритмы решения — всё в удобном формате для быстрого доступа.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6027400" y="3556000"/>
            <a:ext cx="7112000" cy="381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338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206375" y="349250"/>
                </a:moveTo>
                <a:cubicBezTo>
                  <a:pt x="285230" y="349250"/>
                  <a:pt x="349250" y="285230"/>
                  <a:pt x="349250" y="206375"/>
                </a:cubicBezTo>
                <a:cubicBezTo>
                  <a:pt x="349250" y="127520"/>
                  <a:pt x="285230" y="63500"/>
                  <a:pt x="206375" y="63500"/>
                </a:cubicBezTo>
                <a:cubicBezTo>
                  <a:pt x="127520" y="63500"/>
                  <a:pt x="63500" y="127520"/>
                  <a:pt x="63500" y="206375"/>
                </a:cubicBezTo>
                <a:cubicBezTo>
                  <a:pt x="63500" y="285230"/>
                  <a:pt x="127520" y="349250"/>
                  <a:pt x="206375" y="34925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5" name="Text 13"/>
          <p:cNvSpPr/>
          <p:nvPr/>
        </p:nvSpPr>
        <p:spPr>
          <a:xfrm>
            <a:off x="16433800" y="4699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Разборы заданий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433800" y="53975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Детальный анализ типичных задач с советами по решению и типичными ошибками.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44600" y="8001000"/>
            <a:ext cx="21894800" cy="4191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44600" y="8001000"/>
            <a:ext cx="76200" cy="4191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1000" y="838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70582" y="26888"/>
                </a:moveTo>
                <a:cubicBezTo>
                  <a:pt x="385465" y="9823"/>
                  <a:pt x="406995" y="0"/>
                  <a:pt x="429716" y="0"/>
                </a:cubicBezTo>
                <a:cubicBezTo>
                  <a:pt x="472976" y="0"/>
                  <a:pt x="508099" y="35123"/>
                  <a:pt x="508099" y="78383"/>
                </a:cubicBezTo>
                <a:cubicBezTo>
                  <a:pt x="508099" y="101005"/>
                  <a:pt x="498277" y="122634"/>
                  <a:pt x="481211" y="137517"/>
                </a:cubicBezTo>
                <a:lnTo>
                  <a:pt x="281484" y="311348"/>
                </a:lnTo>
                <a:lnTo>
                  <a:pt x="270867" y="300633"/>
                </a:lnTo>
                <a:lnTo>
                  <a:pt x="207367" y="237133"/>
                </a:lnTo>
                <a:lnTo>
                  <a:pt x="196652" y="226516"/>
                </a:lnTo>
                <a:lnTo>
                  <a:pt x="370582" y="26888"/>
                </a:lnTo>
                <a:close/>
                <a:moveTo>
                  <a:pt x="159841" y="256977"/>
                </a:moveTo>
                <a:cubicBezTo>
                  <a:pt x="160734" y="257969"/>
                  <a:pt x="186531" y="283766"/>
                  <a:pt x="237133" y="334367"/>
                </a:cubicBezTo>
                <a:lnTo>
                  <a:pt x="250924" y="348159"/>
                </a:lnTo>
                <a:lnTo>
                  <a:pt x="233958" y="421779"/>
                </a:lnTo>
                <a:cubicBezTo>
                  <a:pt x="230088" y="438745"/>
                  <a:pt x="217190" y="452239"/>
                  <a:pt x="200422" y="456902"/>
                </a:cubicBezTo>
                <a:lnTo>
                  <a:pt x="31948" y="504031"/>
                </a:lnTo>
                <a:lnTo>
                  <a:pt x="123527" y="412452"/>
                </a:lnTo>
                <a:cubicBezTo>
                  <a:pt x="124718" y="412552"/>
                  <a:pt x="125809" y="412651"/>
                  <a:pt x="127000" y="412651"/>
                </a:cubicBezTo>
                <a:cubicBezTo>
                  <a:pt x="144562" y="412651"/>
                  <a:pt x="158750" y="398462"/>
                  <a:pt x="158750" y="380901"/>
                </a:cubicBezTo>
                <a:cubicBezTo>
                  <a:pt x="158750" y="363339"/>
                  <a:pt x="144562" y="349151"/>
                  <a:pt x="127000" y="349151"/>
                </a:cubicBezTo>
                <a:cubicBezTo>
                  <a:pt x="109438" y="349151"/>
                  <a:pt x="95250" y="363339"/>
                  <a:pt x="95250" y="380901"/>
                </a:cubicBezTo>
                <a:cubicBezTo>
                  <a:pt x="95250" y="382091"/>
                  <a:pt x="95349" y="383282"/>
                  <a:pt x="95448" y="384373"/>
                </a:cubicBezTo>
                <a:lnTo>
                  <a:pt x="3870" y="476052"/>
                </a:lnTo>
                <a:lnTo>
                  <a:pt x="51098" y="307578"/>
                </a:lnTo>
                <a:cubicBezTo>
                  <a:pt x="55761" y="290810"/>
                  <a:pt x="69255" y="277912"/>
                  <a:pt x="86221" y="274042"/>
                </a:cubicBezTo>
                <a:lnTo>
                  <a:pt x="159841" y="256977"/>
                </a:ln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9144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СПЕЦИАЛЬНО ДЛЯ РУССКОГО ЯЗЫКА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51000" y="9715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0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Сочинение + чек-лист К1–К12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51000" y="10414000"/>
            <a:ext cx="965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Редактор с подсчётом слов, самопроверка по 12 критериям ЕГЭ, банк готовых аргументов и речевых клише для сочинения-рассуждения.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335000" y="9144000"/>
            <a:ext cx="914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Подсчёт слов в реальном времени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Чек-лист по критериям К1–К12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Банк аргументов по темам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Готовые речевые клише</a:t>
            </a:r>
            <a:endParaRPr lang="en-US" sz="2200" dirty="0"/>
          </a:p>
          <a:p>
            <a:pPr algn="l"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Самопроверка перед экзаменом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Геймификация и мотивация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4600" y="2794000"/>
            <a:ext cx="6858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165100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27554" y="-22503"/>
                </a:moveTo>
                <a:cubicBezTo>
                  <a:pt x="323215" y="-32028"/>
                  <a:pt x="314431" y="-38100"/>
                  <a:pt x="304906" y="-38100"/>
                </a:cubicBezTo>
                <a:cubicBezTo>
                  <a:pt x="295381" y="-38100"/>
                  <a:pt x="286597" y="-32028"/>
                  <a:pt x="282258" y="-22503"/>
                </a:cubicBezTo>
                <a:lnTo>
                  <a:pt x="204364" y="149185"/>
                </a:lnTo>
                <a:lnTo>
                  <a:pt x="35137" y="179427"/>
                </a:lnTo>
                <a:cubicBezTo>
                  <a:pt x="25718" y="181094"/>
                  <a:pt x="17886" y="188595"/>
                  <a:pt x="14923" y="198834"/>
                </a:cubicBezTo>
                <a:cubicBezTo>
                  <a:pt x="11959" y="209074"/>
                  <a:pt x="14393" y="220266"/>
                  <a:pt x="21061" y="227886"/>
                </a:cubicBezTo>
                <a:lnTo>
                  <a:pt x="142134" y="364212"/>
                </a:lnTo>
                <a:lnTo>
                  <a:pt x="115464" y="554593"/>
                </a:lnTo>
                <a:cubicBezTo>
                  <a:pt x="113983" y="565190"/>
                  <a:pt x="117898" y="575905"/>
                  <a:pt x="125624" y="582216"/>
                </a:cubicBezTo>
                <a:cubicBezTo>
                  <a:pt x="133350" y="588526"/>
                  <a:pt x="143510" y="589478"/>
                  <a:pt x="152082" y="584597"/>
                </a:cubicBezTo>
                <a:lnTo>
                  <a:pt x="304906" y="497205"/>
                </a:lnTo>
                <a:lnTo>
                  <a:pt x="457623" y="584597"/>
                </a:lnTo>
                <a:cubicBezTo>
                  <a:pt x="466090" y="589478"/>
                  <a:pt x="476356" y="588526"/>
                  <a:pt x="484082" y="582216"/>
                </a:cubicBezTo>
                <a:cubicBezTo>
                  <a:pt x="491807" y="575905"/>
                  <a:pt x="495723" y="565309"/>
                  <a:pt x="494242" y="554593"/>
                </a:cubicBezTo>
                <a:lnTo>
                  <a:pt x="467466" y="364212"/>
                </a:lnTo>
                <a:lnTo>
                  <a:pt x="588539" y="227886"/>
                </a:lnTo>
                <a:cubicBezTo>
                  <a:pt x="595313" y="220266"/>
                  <a:pt x="597641" y="209074"/>
                  <a:pt x="594678" y="198834"/>
                </a:cubicBezTo>
                <a:cubicBezTo>
                  <a:pt x="591714" y="188595"/>
                  <a:pt x="583988" y="181094"/>
                  <a:pt x="574463" y="179427"/>
                </a:cubicBezTo>
                <a:lnTo>
                  <a:pt x="405342" y="149185"/>
                </a:lnTo>
                <a:lnTo>
                  <a:pt x="327554" y="-2250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4064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Система XP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51000" y="47625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XP за правильный ответ в тесте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 XP за ответ на экзамене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36000" y="2794000"/>
            <a:ext cx="6858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904240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71807" y="0"/>
                </a:moveTo>
                <a:lnTo>
                  <a:pt x="438507" y="0"/>
                </a:lnTo>
                <a:cubicBezTo>
                  <a:pt x="470059" y="0"/>
                  <a:pt x="495776" y="25956"/>
                  <a:pt x="494586" y="57388"/>
                </a:cubicBezTo>
                <a:cubicBezTo>
                  <a:pt x="494348" y="63698"/>
                  <a:pt x="494109" y="70009"/>
                  <a:pt x="493752" y="76200"/>
                </a:cubicBezTo>
                <a:lnTo>
                  <a:pt x="552807" y="76200"/>
                </a:lnTo>
                <a:cubicBezTo>
                  <a:pt x="583883" y="76200"/>
                  <a:pt x="611267" y="101918"/>
                  <a:pt x="608886" y="135493"/>
                </a:cubicBezTo>
                <a:cubicBezTo>
                  <a:pt x="599956" y="258961"/>
                  <a:pt x="536853" y="326827"/>
                  <a:pt x="468392" y="362307"/>
                </a:cubicBezTo>
                <a:cubicBezTo>
                  <a:pt x="449580" y="372070"/>
                  <a:pt x="430411" y="379333"/>
                  <a:pt x="412194" y="384691"/>
                </a:cubicBezTo>
                <a:cubicBezTo>
                  <a:pt x="388144" y="418743"/>
                  <a:pt x="363141" y="436721"/>
                  <a:pt x="343257" y="446365"/>
                </a:cubicBezTo>
                <a:lnTo>
                  <a:pt x="343257" y="533400"/>
                </a:lnTo>
                <a:lnTo>
                  <a:pt x="419457" y="533400"/>
                </a:lnTo>
                <a:cubicBezTo>
                  <a:pt x="440531" y="533400"/>
                  <a:pt x="457557" y="550426"/>
                  <a:pt x="457557" y="571500"/>
                </a:cubicBezTo>
                <a:cubicBezTo>
                  <a:pt x="457557" y="592574"/>
                  <a:pt x="440531" y="609600"/>
                  <a:pt x="419457" y="609600"/>
                </a:cubicBezTo>
                <a:lnTo>
                  <a:pt x="190857" y="609600"/>
                </a:lnTo>
                <a:cubicBezTo>
                  <a:pt x="169783" y="609600"/>
                  <a:pt x="152757" y="592574"/>
                  <a:pt x="152757" y="571500"/>
                </a:cubicBezTo>
                <a:cubicBezTo>
                  <a:pt x="152757" y="550426"/>
                  <a:pt x="169783" y="533400"/>
                  <a:pt x="190857" y="533400"/>
                </a:cubicBezTo>
                <a:lnTo>
                  <a:pt x="267057" y="533400"/>
                </a:lnTo>
                <a:lnTo>
                  <a:pt x="267057" y="446365"/>
                </a:lnTo>
                <a:cubicBezTo>
                  <a:pt x="248007" y="437197"/>
                  <a:pt x="224314" y="420172"/>
                  <a:pt x="201216" y="388858"/>
                </a:cubicBezTo>
                <a:cubicBezTo>
                  <a:pt x="179308" y="383143"/>
                  <a:pt x="155496" y="374452"/>
                  <a:pt x="132278" y="361355"/>
                </a:cubicBezTo>
                <a:cubicBezTo>
                  <a:pt x="67866" y="325279"/>
                  <a:pt x="9763" y="257294"/>
                  <a:pt x="1429" y="135255"/>
                </a:cubicBezTo>
                <a:cubicBezTo>
                  <a:pt x="-833" y="101798"/>
                  <a:pt x="26432" y="76081"/>
                  <a:pt x="57507" y="76081"/>
                </a:cubicBezTo>
                <a:lnTo>
                  <a:pt x="116562" y="76081"/>
                </a:lnTo>
                <a:cubicBezTo>
                  <a:pt x="116205" y="69890"/>
                  <a:pt x="115967" y="63698"/>
                  <a:pt x="115729" y="57269"/>
                </a:cubicBezTo>
                <a:cubicBezTo>
                  <a:pt x="114538" y="25717"/>
                  <a:pt x="140256" y="-119"/>
                  <a:pt x="171807" y="-119"/>
                </a:cubicBezTo>
                <a:close/>
                <a:moveTo>
                  <a:pt x="120848" y="133350"/>
                </a:moveTo>
                <a:lnTo>
                  <a:pt x="58460" y="133350"/>
                </a:lnTo>
                <a:cubicBezTo>
                  <a:pt x="65842" y="234196"/>
                  <a:pt x="112157" y="284678"/>
                  <a:pt x="159901" y="311468"/>
                </a:cubicBezTo>
                <a:cubicBezTo>
                  <a:pt x="142756" y="267057"/>
                  <a:pt x="128588" y="209074"/>
                  <a:pt x="120848" y="133350"/>
                </a:cubicBezTo>
                <a:close/>
                <a:moveTo>
                  <a:pt x="452437" y="305753"/>
                </a:moveTo>
                <a:cubicBezTo>
                  <a:pt x="500658" y="277416"/>
                  <a:pt x="544235" y="227052"/>
                  <a:pt x="551617" y="133350"/>
                </a:cubicBezTo>
                <a:lnTo>
                  <a:pt x="489347" y="133350"/>
                </a:lnTo>
                <a:cubicBezTo>
                  <a:pt x="481965" y="205859"/>
                  <a:pt x="468630" y="262176"/>
                  <a:pt x="452437" y="30575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042400" y="4064000"/>
            <a:ext cx="609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Таблица лидеров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042400" y="47625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Глобальный рейтинг по XP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Топ-20 с медалями 🥇🥈🥉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6027400" y="2794000"/>
            <a:ext cx="7112000" cy="3556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3380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28600" y="95250"/>
                </a:moveTo>
                <a:cubicBezTo>
                  <a:pt x="228600" y="63698"/>
                  <a:pt x="254198" y="38100"/>
                  <a:pt x="285750" y="38100"/>
                </a:cubicBezTo>
                <a:lnTo>
                  <a:pt x="323850" y="38100"/>
                </a:lnTo>
                <a:cubicBezTo>
                  <a:pt x="355402" y="38100"/>
                  <a:pt x="381000" y="63698"/>
                  <a:pt x="381000" y="95250"/>
                </a:cubicBezTo>
                <a:lnTo>
                  <a:pt x="381000" y="514350"/>
                </a:lnTo>
                <a:cubicBezTo>
                  <a:pt x="381000" y="545902"/>
                  <a:pt x="355402" y="571500"/>
                  <a:pt x="323850" y="571500"/>
                </a:cubicBezTo>
                <a:lnTo>
                  <a:pt x="285750" y="571500"/>
                </a:lnTo>
                <a:cubicBezTo>
                  <a:pt x="254198" y="571500"/>
                  <a:pt x="228600" y="545902"/>
                  <a:pt x="228600" y="514350"/>
                </a:cubicBezTo>
                <a:lnTo>
                  <a:pt x="228600" y="95250"/>
                </a:lnTo>
                <a:close/>
                <a:moveTo>
                  <a:pt x="0" y="323850"/>
                </a:moveTo>
                <a:cubicBezTo>
                  <a:pt x="0" y="292298"/>
                  <a:pt x="25598" y="266700"/>
                  <a:pt x="57150" y="266700"/>
                </a:cubicBezTo>
                <a:lnTo>
                  <a:pt x="95250" y="266700"/>
                </a:lnTo>
                <a:cubicBezTo>
                  <a:pt x="126802" y="266700"/>
                  <a:pt x="152400" y="292298"/>
                  <a:pt x="152400" y="323850"/>
                </a:cubicBezTo>
                <a:lnTo>
                  <a:pt x="152400" y="514350"/>
                </a:lnTo>
                <a:cubicBezTo>
                  <a:pt x="152400" y="545902"/>
                  <a:pt x="126802" y="571500"/>
                  <a:pt x="95250" y="571500"/>
                </a:cubicBezTo>
                <a:lnTo>
                  <a:pt x="57150" y="571500"/>
                </a:lnTo>
                <a:cubicBezTo>
                  <a:pt x="25598" y="571500"/>
                  <a:pt x="0" y="545902"/>
                  <a:pt x="0" y="514350"/>
                </a:cubicBezTo>
                <a:lnTo>
                  <a:pt x="0" y="323850"/>
                </a:lnTo>
                <a:close/>
                <a:moveTo>
                  <a:pt x="514350" y="114300"/>
                </a:moveTo>
                <a:lnTo>
                  <a:pt x="552450" y="114300"/>
                </a:lnTo>
                <a:cubicBezTo>
                  <a:pt x="584002" y="114300"/>
                  <a:pt x="609600" y="139898"/>
                  <a:pt x="609600" y="171450"/>
                </a:cubicBezTo>
                <a:lnTo>
                  <a:pt x="609600" y="514350"/>
                </a:lnTo>
                <a:cubicBezTo>
                  <a:pt x="609600" y="545902"/>
                  <a:pt x="584002" y="571500"/>
                  <a:pt x="552450" y="571500"/>
                </a:cubicBezTo>
                <a:lnTo>
                  <a:pt x="514350" y="571500"/>
                </a:lnTo>
                <a:cubicBezTo>
                  <a:pt x="482798" y="571500"/>
                  <a:pt x="457200" y="545902"/>
                  <a:pt x="457200" y="514350"/>
                </a:cubicBezTo>
                <a:lnTo>
                  <a:pt x="457200" y="171450"/>
                </a:lnTo>
                <a:cubicBezTo>
                  <a:pt x="457200" y="139898"/>
                  <a:pt x="482798" y="114300"/>
                  <a:pt x="514350" y="114300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6433800" y="4064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8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Визуальный прогресс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433800" y="4762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Цветовые индикаторы результатов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Бейджи: Отлично / Прогресс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36000" y="6858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Распределение XP по режимам</a:t>
            </a:r>
            <a:endParaRPr lang="en-US" sz="320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1218354578"/>
              </p:ext>
            </p:extLst>
          </p:nvPr>
        </p:nvGraphicFramePr>
        <p:xfrm>
          <a:off x="6883400" y="8255000"/>
          <a:ext cx="1016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12096750" y="6794501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endParaRPr lang="en-US" sz="3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Результаты и перспективы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44600" y="2159000"/>
            <a:ext cx="1016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4" name="Shape 2"/>
          <p:cNvSpPr/>
          <p:nvPr/>
        </p:nvSpPr>
        <p:spPr>
          <a:xfrm>
            <a:off x="1244600" y="2794000"/>
            <a:ext cx="10795000" cy="939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1244600" y="2794000"/>
            <a:ext cx="76200" cy="939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048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РЕАЛИЗОВАНО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3810000"/>
            <a:ext cx="10033000" cy="800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предмета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Математика, Русский, Физика, Информатика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режимов обучения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экзамен, тест, набивка, адаптив, теория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Анти-чит система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отслеживанием нарушений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Банк ошибок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интервальным повторением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Детальная аналитика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графики, статистика, время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Геймификация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XP, рейтинг, бейджи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Теория и методички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конспекты, формулы, разборы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Сочинение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чек-лист К1–К12, банк аргументов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6A3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Новости ЕГЭ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актуальная информация ФИПИ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573000" y="2794000"/>
            <a:ext cx="10566400" cy="939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2573000" y="2794000"/>
            <a:ext cx="76200" cy="9398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2979400" y="3048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ПЛАНЫ РАЗВИТИЯ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979400" y="3810000"/>
            <a:ext cx="9779000" cy="800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Расширение базы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заданий до 500+ на предмет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Новые предметы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Химия, Биология, История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Мобильное приложение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для iOS и Android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ИИ-репетитор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персонализированными подсказками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Интеграция с ФИПИ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для актуальных демоверсий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Видеоразборы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сложных заданий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Социальные функции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группы, соревнования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Push-уведомления</a:t>
            </a: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для ежедневных занятий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264822" y="3462638"/>
            <a:ext cx="1016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0" b="1" kern="0" spc="-12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Спасибо за</a:t>
            </a:r>
            <a:endParaRPr lang="en-US" sz="8000" dirty="0"/>
          </a:p>
          <a:p>
            <a:pPr algn="l">
              <a:lnSpc>
                <a:spcPct val="120000"/>
              </a:lnSpc>
            </a:pPr>
            <a:r>
              <a:rPr lang="en-US" sz="8000" b="1" kern="0" spc="-120" dirty="0">
                <a:solidFill>
                  <a:srgbClr val="7EC0D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внимание!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7812117" y="7648832"/>
            <a:ext cx="91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AAAAA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ЕГЭ Тренажёр — ваш путь к высоким баллам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0534822" y="6962346"/>
            <a:ext cx="2540000" cy="50800"/>
          </a:xfrm>
          <a:prstGeom prst="rect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877</Words>
  <Application>Microsoft Office PowerPoint</Application>
  <PresentationFormat>Произвольный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MiSans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ЕГЭ Тренажёр — Веб-платформа для подготовки к ЕГЭ</dc:title>
  <dc:subject>ЕГЭ Тренажёр — Веб-платформа для подготовки к ЕГЭ</dc:subject>
  <dc:creator>Kimi</dc:creator>
  <cp:lastModifiedBy>вячеслав павлов</cp:lastModifiedBy>
  <cp:revision>14</cp:revision>
  <dcterms:created xsi:type="dcterms:W3CDTF">2026-07-02T15:30:38Z</dcterms:created>
  <dcterms:modified xsi:type="dcterms:W3CDTF">2026-10-26T16:19:48Z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{"Label":"ЕГЭ Тренажёр — Веб-платформа для подготовки к ЕГЭ","ContentProducer":"001191110108MACG2KBH8F10000","ProduceID":"19f23625-7402-87eb-8000-0000825810ec","ReservedCode1":"","ContentPropagator":"001191110108MACG2KBH8F20000","PropagateID":"19f235be-43</vt:lpwstr>
  </property>
</Properties>
</file>